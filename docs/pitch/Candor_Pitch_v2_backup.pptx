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w_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600" b="1">
                <a:solidFill>
                  <a:srgbClr val="FFFFFF"/>
                </a:solidFill>
                <a:latin typeface="Segoe UI"/>
              </a:rPr>
              <a:t>CANDOR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0E5A0"/>
                </a:solidFill>
                <a:latin typeface="Segoe UI"/>
              </a:rPr>
              <a:t>The assistant that tells you when it's holding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A two-tier small-language-model cascade that runs entirely on your phone. No server, no subscription, no network permission.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00E5A0"/>
                </a:solidFill>
                <a:latin typeface="Segoe UI"/>
              </a:rPr>
              <a:t>100% on-device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55778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00E5A0"/>
                </a:solidFill>
                <a:latin typeface="Segoe UI"/>
              </a:rPr>
              <a:t>0 network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55778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7C4DFF"/>
                </a:solidFill>
                <a:latin typeface="Segoe UI"/>
              </a:rPr>
              <a:t>109/109 tests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55778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FFD93D"/>
                </a:solidFill>
                <a:latin typeface="Segoe UI"/>
              </a:rPr>
              <a:t>Android · Flutter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66666"/>
                </a:solidFill>
                <a:latin typeface="Consolas"/>
              </a:rPr>
              <a:t>Hackathon 2026   ·   github.com/charansaiponnada/candor   ·   release v0.1.0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Cloud AI disappears exactly when you need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Tunnels, flights, rural coverage, outages, dead plans — the assistant is gone.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5074920" cy="3749039"/>
          </a:xfrm>
          <a:prstGeom prst="roundRect">
            <a:avLst>
              <a:gd name="adj" fmla="val 6000"/>
            </a:avLst>
          </a:prstGeom>
          <a:solidFill>
            <a:srgbClr val="140B0B"/>
          </a:solidFill>
          <a:ln w="12700">
            <a:solidFill>
              <a:srgbClr val="3A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957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6B6B"/>
                </a:solidFill>
                <a:latin typeface="Segoe UI"/>
              </a:rPr>
              <a:t>TODAY — RENTED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No network, no assistant.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Every answer is a round-trip to someone else's datacentre.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Your words leave the device.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Prompts travel, get logged, get retained.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Latency you can feel.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Seconds of round-trip on every single turn.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Metered and rate-limited.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Stop paying and the intelligence switches off.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53328" y="3794760"/>
            <a:ext cx="502920" cy="457200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4983480" cy="3749039"/>
          </a:xfrm>
          <a:prstGeom prst="roundRect">
            <a:avLst>
              <a:gd name="adj" fmla="val 6000"/>
            </a:avLst>
          </a:prstGeom>
          <a:solidFill>
            <a:srgbClr val="041611"/>
          </a:solidFill>
          <a:ln w="12700">
            <a:solidFill>
              <a:srgbClr val="0E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39572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CANDOR — OWNED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Two models ride in the APK.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Qwen2.5 0.5B + 1.5B, Q4_K_M, run by llama.cpp on the phone.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Incapable of phoning home.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The release manifest declares no INTERNET permission.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Deterministic skills, zero tokens.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Math, units and dates answered exactly, not guessed.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Honest about its own limits.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Every reply names the tier, the confidence, the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10561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00E5A0"/>
                </a:solidFill>
                <a:latin typeface="Segoe UI"/>
              </a:rPr>
              <a:t>Airplane mode is the demo: chat, calculators, converters, memos, timers and drafts all still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One honest router, two tiers, zero packets.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Every query is answered at the cheapest tier that can hold it — and labelled with which one did.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691640" cy="10515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346704"/>
            <a:ext cx="1472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E5A0"/>
                </a:solidFill>
                <a:latin typeface="Segoe UI"/>
              </a:rPr>
              <a:t>USER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57600"/>
            <a:ext cx="1472184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typed or spoken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(on-device STT)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3602736"/>
            <a:ext cx="320040" cy="256032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3063240"/>
            <a:ext cx="1828800" cy="13258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320954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D93D"/>
                </a:solidFill>
                <a:latin typeface="Segoe UI"/>
              </a:rPr>
              <a:t>INTENT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520440"/>
            <a:ext cx="1609344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regex classifier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skill / action /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224028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8968" y="2386584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D93D"/>
                </a:solidFill>
                <a:latin typeface="Segoe UI"/>
              </a:rPr>
              <a:t>SKILLS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2697480"/>
            <a:ext cx="20665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calculator · units · dates · memo · dice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2918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3438144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D93D"/>
                </a:solidFill>
                <a:latin typeface="Segoe UI"/>
              </a:rPr>
              <a:t>PLATFORM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749039"/>
            <a:ext cx="20665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timer · app · SMS · email ·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434340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4489704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E5A0"/>
                </a:solidFill>
                <a:latin typeface="Segoe UI"/>
              </a:rPr>
              <a:t>TIER-1  ·  0.5B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4800600"/>
            <a:ext cx="206654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Qwen2.5 Q4_K_M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answers by default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83480" y="2578608"/>
            <a:ext cx="274320" cy="237744"/>
          </a:xfrm>
          <a:prstGeom prst="rightArrow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4983480" y="3630168"/>
            <a:ext cx="274320" cy="237744"/>
          </a:xfrm>
          <a:prstGeom prst="rightArrow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4983480" y="4727448"/>
            <a:ext cx="274320" cy="237744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343400"/>
            <a:ext cx="1737360" cy="10058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489704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E5A0"/>
                </a:solidFill>
                <a:latin typeface="Segoe UI"/>
              </a:rPr>
              <a:t>ROUTER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800600"/>
            <a:ext cx="15179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conf &lt; 0.7 ?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empty / refusal ?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726679" y="4727448"/>
            <a:ext cx="320040" cy="237744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32720" y="333756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2448" y="34838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7C4DFF"/>
                </a:solidFill>
                <a:latin typeface="Segoe UI"/>
              </a:rPr>
              <a:t>TIER-2 · 1.5B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3794760"/>
            <a:ext cx="1243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escalated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answer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20" y="466344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42448" y="480974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Segoe UI"/>
              </a:rPr>
              <a:t>CONSTRAINED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5120640"/>
            <a:ext cx="1243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Tier-1 kept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+ reason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966960" y="3675887"/>
            <a:ext cx="274320" cy="237744"/>
          </a:xfrm>
          <a:prstGeom prst="rightArrow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9966960" y="5001768"/>
            <a:ext cx="274320" cy="237744"/>
          </a:xfrm>
          <a:prstGeom prst="rightArrow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63840" y="5715000"/>
            <a:ext cx="2286000" cy="621792"/>
          </a:xfrm>
          <a:prstGeom prst="roundRect">
            <a:avLst>
              <a:gd name="adj" fmla="val 6000"/>
            </a:avLst>
          </a:prstGeom>
          <a:solidFill>
            <a:srgbClr val="101018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36992" y="5833872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C4DFF"/>
                </a:solidFill>
                <a:latin typeface="Segoe UI"/>
              </a:rPr>
              <a:t>DEVICE GATE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9A9A9A"/>
                </a:solidFill>
                <a:latin typeface="Segoe UI"/>
              </a:rPr>
              <a:t>battery ≥ 20%  ·  thermal &lt; MODERATE</a:t>
            </a:r>
          </a:p>
        </p:txBody>
      </p:sp>
      <p:sp>
        <p:nvSpPr>
          <p:cNvPr id="41" name="Up Arrow 40"/>
          <p:cNvSpPr/>
          <p:nvPr/>
        </p:nvSpPr>
        <p:spPr>
          <a:xfrm>
            <a:off x="8887968" y="5394960"/>
            <a:ext cx="237744" cy="274320"/>
          </a:xfrm>
          <a:prstGeom prst="upArrow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" y="4983480"/>
            <a:ext cx="4023360" cy="1353312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17550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A0"/>
                </a:solidFill>
                <a:latin typeface="Segoe UI"/>
              </a:rPr>
              <a:t>THE OUTPUT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5321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● Tier-1 · 12.4s · conf 0.95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8978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Segoe UI"/>
              </a:rPr>
              <a:t>Every answer names its tier, latency and confidence. Escalations append to a JSONL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Proven, not promised.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Everything below is measurable on a mid-range handset in airplane mode,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0E5A0"/>
                </a:solidFill>
                <a:latin typeface="Segoe UI"/>
              </a:rPr>
              <a:t>109/109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06324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automated tests pass
router · skills · stores ·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3317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0E5A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06324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INTERNET permissions
in the release manifest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3317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7C4D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6324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quantized models shipped
0.5B + 1.5B, Q4_K_M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23317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D93D"/>
                </a:solidFill>
                <a:latin typeface="Segoe U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306324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offline capability
no feature needs a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IN THE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CCCCC"/>
                </a:solidFill>
                <a:latin typeface="Segoe UI"/>
              </a:rPr>
              <a:t>Models &amp; Benchmarks — live load time, tokens/sec and size per bundled model, measured on this phone.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50" b="0">
                <a:solidFill>
                  <a:srgbClr val="CCCCCC"/>
                </a:solidFill>
                <a:latin typeface="Segoe UI"/>
              </a:rPr>
              <a:t>Prompt Lab — per-tier temperature, top-k/top-p and penalty sliders with a live sandbox.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50" b="0">
                <a:solidFill>
                  <a:srgbClr val="CCCCCC"/>
                </a:solidFill>
                <a:latin typeface="Segoe UI"/>
              </a:rPr>
              <a:t>Skills hub — every deterministic capability, plus a debug panel that simulates a constrained device.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50" b="0">
                <a:solidFill>
                  <a:srgbClr val="CCCCCC"/>
                </a:solidFill>
                <a:latin typeface="Segoe UI"/>
              </a:rPr>
              <a:t>Chat history, per-tier model pickers, Vulkan GPU toggle, OLED-black glass 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Flutter / Dart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5262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single codebase, custom glass widget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28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llama.cpp via FFI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928616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llama_flutter_android, no ML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309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Qwen2.5 Q4_K_M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33095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0.5B Tier-1 + 1.5B Tier-2, in the APK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332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MethodChannel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73328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battery, thermal, model-file prep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1356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Vulkan offload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135624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optional GPU acceleration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Same privacy guarantee, more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The hard part — offline inference behind an honest router — already 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3291840" cy="12344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957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On-device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6148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Index notes and documents locally. Grounded answers, zero uploads.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194560"/>
            <a:ext cx="3291840" cy="12344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3957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4DFF"/>
                </a:solidFill>
                <a:latin typeface="Segoe UI"/>
              </a:rPr>
              <a:t>Bigger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76148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3B and 7B quantized models as phones catch up. Same cascade, smarter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194560"/>
            <a:ext cx="3291840" cy="12344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23957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93D"/>
                </a:solidFill>
                <a:latin typeface="Segoe UI"/>
              </a:rPr>
              <a:t>More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76148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Calendar, files and smart-home intents. Deterministic, offline, unhallucinatable.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11880"/>
            <a:ext cx="3291840" cy="12344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81304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Voice-first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7880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Faster captioning, wake word and a richer speech UI for hands-free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611880"/>
            <a:ext cx="3291840" cy="12344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381304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4DFF"/>
                </a:solidFill>
                <a:latin typeface="Segoe UI"/>
              </a:rPr>
              <a:t>Play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417880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Ship the release pipeline that already builds the APK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6636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041611"/>
          </a:solidFill>
          <a:ln w="12700">
            <a:solidFill>
              <a:srgbClr val="0E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440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“An assistant that knows when to hold back — and tells you.”</a:t>
            </a:r>
          </a:p>
          <a:p>
            <a:pPr algn="ctr">
              <a:lnSpc>
                <a:spcPct val="115000"/>
              </a:lnSpc>
              <a:spcBef>
                <a:spcPts val="900"/>
              </a:spcBef>
            </a:pPr>
            <a:r>
              <a:rPr sz="1200" b="0">
                <a:solidFill>
                  <a:srgbClr val="00E5A0"/>
                </a:solidFill>
                <a:latin typeface="Consolas"/>
              </a:rPr>
              <a:t>Install the release APK  ·  switch on airplane mode  ·  open a chat  ·  github.com/charansaiponnada/candor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