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A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0" y="1828800"/>
            <a:ext cx="1188720" cy="73152"/>
          </a:xfrm>
          <a:prstGeom prst="roundRect">
            <a:avLst>
              <a:gd name="adj" fmla="val 8000"/>
            </a:avLst>
          </a:prstGeom>
          <a:solidFill>
            <a:srgbClr val="00E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2194560"/>
            <a:ext cx="9418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600" b="1">
                <a:solidFill>
                  <a:srgbClr val="FFFFFF"/>
                </a:solidFill>
                <a:latin typeface="Segoe UI"/>
              </a:rPr>
              <a:t>CANDOR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154680"/>
            <a:ext cx="9418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00E5A0"/>
                </a:solidFill>
                <a:latin typeface="Segoe UI"/>
              </a:rPr>
              <a:t>The assistant that tells you when it's holding back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79476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9AA0B4"/>
                </a:solidFill>
                <a:latin typeface="Segoe UI"/>
              </a:rPr>
              <a:t>A privacy-first, fully offline two-tier SLM cascade for your phone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6035040"/>
            <a:ext cx="9418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9AA0B4"/>
                </a:solidFill>
                <a:latin typeface="Segoe UI"/>
              </a:rPr>
              <a:t>Hackathon 2026  •  charansaiponnada/candor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A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502920"/>
            <a:ext cx="109728" cy="457200"/>
          </a:xfrm>
          <a:prstGeom prst="roundRect">
            <a:avLst>
              <a:gd name="adj" fmla="val 8000"/>
            </a:avLst>
          </a:prstGeom>
          <a:solidFill>
            <a:srgbClr val="00E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" y="45720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E5A0"/>
                </a:solidFill>
                <a:latin typeface="Segoe UI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7772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Segoe UI"/>
              </a:rPr>
              <a:t>AI assistants need a network. The world doesn't always have one.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1112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73736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800" b="1">
                <a:solidFill>
                  <a:srgbClr val="FFFFFF"/>
                </a:solidFill>
                <a:latin typeface="Segoe UI"/>
              </a:rPr>
              <a:t>•  Cloud AI fails where connectivity fails</a:t>
            </a:r>
          </a:p>
          <a:p>
            <a:r>
              <a:rPr sz="1500">
                <a:solidFill>
                  <a:srgbClr val="9AA0B4"/>
                </a:solidFill>
                <a:latin typeface="Segoe UI"/>
              </a:rPr>
              <a:t>      Tunnels, rural areas, flights, outages — your assistant vanishes exactly when you need it.</a:t>
            </a:r>
          </a:p>
          <a:p>
            <a:pPr>
              <a:spcAft>
                <a:spcPts val="700"/>
              </a:spcAft>
            </a:pPr>
            <a:r>
              <a:rPr sz="1800" b="1">
                <a:solidFill>
                  <a:srgbClr val="FFFFFF"/>
                </a:solidFill>
                <a:latin typeface="Segoe UI"/>
              </a:rPr>
              <a:t>•  Every query ships your words to a server</a:t>
            </a:r>
          </a:p>
          <a:p>
            <a:r>
              <a:rPr sz="1500">
                <a:solidFill>
                  <a:srgbClr val="9AA0B4"/>
                </a:solidFill>
                <a:latin typeface="Segoe UI"/>
              </a:rPr>
              <a:t>      Conversations in transit are risky; they're also billed per use and rate-limited.</a:t>
            </a:r>
          </a:p>
          <a:p>
            <a:pPr>
              <a:spcAft>
                <a:spcPts val="700"/>
              </a:spcAft>
            </a:pPr>
            <a:r>
              <a:rPr sz="1800" b="1">
                <a:solidFill>
                  <a:srgbClr val="FFFFFF"/>
                </a:solidFill>
                <a:latin typeface="Segoe UI"/>
              </a:rPr>
              <a:t>•  Latency you can feel</a:t>
            </a:r>
          </a:p>
          <a:p>
            <a:r>
              <a:rPr sz="1500">
                <a:solidFill>
                  <a:srgbClr val="9AA0B4"/>
                </a:solidFill>
                <a:latin typeface="Segoe UI"/>
              </a:rPr>
              <a:t>      Cloud round-trips add seconds to every answer, even on good networks.</a:t>
            </a:r>
          </a:p>
          <a:p>
            <a:pPr>
              <a:spcAft>
                <a:spcPts val="700"/>
              </a:spcAft>
            </a:pPr>
            <a:r>
              <a:rPr sz="1800" b="1">
                <a:solidFill>
                  <a:srgbClr val="FFFFFF"/>
                </a:solidFill>
                <a:latin typeface="Segoe UI"/>
              </a:rPr>
              <a:t>•  Caps, plans and subscriptions</a:t>
            </a:r>
          </a:p>
          <a:p>
            <a:r>
              <a:rPr sz="1500">
                <a:solidFill>
                  <a:srgbClr val="9AA0B4"/>
                </a:solidFill>
                <a:latin typeface="Segoe UI"/>
              </a:rPr>
              <a:t>      You rent intelligence; the moment you stop paying, it's gone.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64008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9AA0B4"/>
                </a:solidFill>
                <a:latin typeface="Segoe UI"/>
              </a:rPr>
              <a:t>2 / 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A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502920"/>
            <a:ext cx="109728" cy="457200"/>
          </a:xfrm>
          <a:prstGeom prst="roundRect">
            <a:avLst>
              <a:gd name="adj" fmla="val 8000"/>
            </a:avLst>
          </a:prstGeom>
          <a:solidFill>
            <a:srgbClr val="00E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" y="45720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E5A0"/>
                </a:solidFill>
                <a:latin typeface="Segoe UI"/>
              </a:rPr>
              <a:t>THE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7772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Segoe UI"/>
              </a:rPr>
              <a:t>Candor: a two-tier SLM cascade, 100% on-device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1112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73736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800" b="1">
                <a:solidFill>
                  <a:srgbClr val="FFFFFF"/>
                </a:solidFill>
                <a:latin typeface="Segoe UI"/>
              </a:rPr>
              <a:t>•  Zero network calls at inference time</a:t>
            </a:r>
          </a:p>
          <a:p>
            <a:r>
              <a:rPr sz="1500">
                <a:solidFill>
                  <a:srgbClr val="9AA0B4"/>
                </a:solidFill>
                <a:latin typeface="Segoe UI"/>
              </a:rPr>
              <a:t>      The release manifest declares no INTERNET permission — architecturally incapable of phoning home.</a:t>
            </a:r>
          </a:p>
          <a:p>
            <a:pPr>
              <a:spcAft>
                <a:spcPts val="700"/>
              </a:spcAft>
            </a:pPr>
            <a:r>
              <a:rPr sz="1800" b="1">
                <a:solidFill>
                  <a:srgbClr val="FFFFFF"/>
                </a:solidFill>
                <a:latin typeface="Segoe UI"/>
              </a:rPr>
              <a:t>•  Two tiers, one honest handoff</a:t>
            </a:r>
          </a:p>
          <a:p>
            <a:r>
              <a:rPr sz="1500">
                <a:solidFill>
                  <a:srgbClr val="9AA0B4"/>
                </a:solidFill>
                <a:latin typeface="Segoe UI"/>
              </a:rPr>
              <a:t>      Tier-1 Qwen2.5-0.5B answers instantly; Tier-2 Qwen2.5-1.5B runs only when the query needs it and the device has headroom.</a:t>
            </a:r>
          </a:p>
          <a:p>
            <a:pPr>
              <a:spcAft>
                <a:spcPts val="700"/>
              </a:spcAft>
            </a:pPr>
            <a:r>
              <a:rPr sz="1800" b="1">
                <a:solidFill>
                  <a:srgbClr val="FFFFFF"/>
                </a:solidFill>
                <a:latin typeface="Segoe UI"/>
              </a:rPr>
              <a:t>•  Thermal- and battery-gated escalation</a:t>
            </a:r>
          </a:p>
          <a:p>
            <a:r>
              <a:rPr sz="1500">
                <a:solidFill>
                  <a:srgbClr val="9AA0B4"/>
                </a:solidFill>
                <a:latin typeface="Segoe UI"/>
              </a:rPr>
              <a:t>      The router knows the device's state — and tells you why it answered the way it did.</a:t>
            </a:r>
          </a:p>
          <a:p>
            <a:pPr>
              <a:spcAft>
                <a:spcPts val="700"/>
              </a:spcAft>
            </a:pPr>
            <a:r>
              <a:rPr sz="1800" b="1">
                <a:solidFill>
                  <a:srgbClr val="FFFFFF"/>
                </a:solidFill>
                <a:latin typeface="Segoe UI"/>
              </a:rPr>
              <a:t>•  Honest degradation</a:t>
            </a:r>
          </a:p>
          <a:p>
            <a:r>
              <a:rPr sz="1500">
                <a:solidFill>
                  <a:srgbClr val="9AA0B4"/>
                </a:solidFill>
                <a:latin typeface="Segoe UI"/>
              </a:rPr>
              <a:t>      Every answer carries a badge: which tier answered, how confident, how long it took.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64008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9AA0B4"/>
                </a:solidFill>
                <a:latin typeface="Segoe UI"/>
              </a:rPr>
              <a:t>3 / 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A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502920"/>
            <a:ext cx="109728" cy="457200"/>
          </a:xfrm>
          <a:prstGeom prst="roundRect">
            <a:avLst>
              <a:gd name="adj" fmla="val 8000"/>
            </a:avLst>
          </a:prstGeom>
          <a:solidFill>
            <a:srgbClr val="00E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" y="45720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E5A0"/>
                </a:solidFill>
                <a:latin typeface="Segoe UI"/>
              </a:rPr>
              <a:t>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7772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Segoe UI"/>
              </a:rPr>
              <a:t>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1112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51560" y="1828800"/>
            <a:ext cx="2514600" cy="3566160"/>
          </a:xfrm>
          <a:prstGeom prst="roundRect">
            <a:avLst>
              <a:gd name="adj" fmla="val 8000"/>
            </a:avLst>
          </a:prstGeom>
          <a:solidFill>
            <a:srgbClr val="16171B"/>
          </a:solidFill>
          <a:ln w="12700">
            <a:solidFill>
              <a:srgbClr val="2A2C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700" b="1">
                <a:solidFill>
                  <a:srgbClr val="00E5A0"/>
                </a:solidFill>
                <a:latin typeface="Segoe UI"/>
              </a:rPr>
              <a:t>1 — SlM cascade</a:t>
            </a:r>
          </a:p>
          <a:p>
            <a:pPr>
              <a:spcBef>
                <a:spcPts val="1000"/>
              </a:spcBef>
            </a:pPr>
            <a:r>
              <a:rPr sz="1300">
                <a:solidFill>
                  <a:srgbClr val="FFFFFF"/>
                </a:solidFill>
                <a:latin typeface="Segoe UI"/>
              </a:rPr>
              <a:t>• Tier-1 (0.5B) answers by default</a:t>
            </a:r>
          </a:p>
          <a:p>
            <a:pPr>
              <a:spcBef>
                <a:spcPts val="1000"/>
              </a:spcBef>
            </a:pPr>
            <a:r>
              <a:rPr sz="1300">
                <a:solidFill>
                  <a:srgbClr val="FFFFFF"/>
                </a:solidFill>
                <a:latin typeface="Segoe UI"/>
              </a:rPr>
              <a:t>• Router escalates to Tier-2 (1.5B)</a:t>
            </a:r>
          </a:p>
          <a:p>
            <a:pPr>
              <a:spcBef>
                <a:spcPts val="1000"/>
              </a:spcBef>
            </a:pPr>
            <a:r>
              <a:rPr sz="1300">
                <a:solidFill>
                  <a:srgbClr val="FFFFFF"/>
                </a:solidFill>
                <a:latin typeface="Segoe UI"/>
              </a:rPr>
              <a:t>• Only with resource headroom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813048" y="1828800"/>
            <a:ext cx="2514600" cy="3566160"/>
          </a:xfrm>
          <a:prstGeom prst="roundRect">
            <a:avLst>
              <a:gd name="adj" fmla="val 8000"/>
            </a:avLst>
          </a:prstGeom>
          <a:solidFill>
            <a:srgbClr val="16171B"/>
          </a:solidFill>
          <a:ln w="12700">
            <a:solidFill>
              <a:srgbClr val="2A2C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700" b="1">
                <a:solidFill>
                  <a:srgbClr val="00E5A0"/>
                </a:solidFill>
                <a:latin typeface="Segoe UI"/>
              </a:rPr>
              <a:t>2 — skills engine</a:t>
            </a:r>
          </a:p>
          <a:p>
            <a:pPr>
              <a:spcBef>
                <a:spcPts val="1000"/>
              </a:spcBef>
            </a:pPr>
            <a:r>
              <a:rPr sz="1300">
                <a:solidFill>
                  <a:srgbClr val="FFFFFF"/>
                </a:solidFill>
                <a:latin typeface="Segoe UI"/>
              </a:rPr>
              <a:t>• Regex intent detection</a:t>
            </a:r>
          </a:p>
          <a:p>
            <a:pPr>
              <a:spcBef>
                <a:spcPts val="1000"/>
              </a:spcBef>
            </a:pPr>
            <a:r>
              <a:rPr sz="1300">
                <a:solidFill>
                  <a:srgbClr val="FFFFFF"/>
                </a:solidFill>
                <a:latin typeface="Segoe UI"/>
              </a:rPr>
              <a:t>• Calculator/units/dates/memo</a:t>
            </a:r>
          </a:p>
          <a:p>
            <a:pPr>
              <a:spcBef>
                <a:spcPts val="1000"/>
              </a:spcBef>
            </a:pPr>
            <a:r>
              <a:rPr sz="1300">
                <a:solidFill>
                  <a:srgbClr val="FFFFFF"/>
                </a:solidFill>
                <a:latin typeface="Segoe UI"/>
              </a:rPr>
              <a:t>• No model pass → no hallucination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74536" y="1828800"/>
            <a:ext cx="2514600" cy="3566160"/>
          </a:xfrm>
          <a:prstGeom prst="roundRect">
            <a:avLst>
              <a:gd name="adj" fmla="val 8000"/>
            </a:avLst>
          </a:prstGeom>
          <a:solidFill>
            <a:srgbClr val="16171B"/>
          </a:solidFill>
          <a:ln w="12700">
            <a:solidFill>
              <a:srgbClr val="2A2C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700" b="1">
                <a:solidFill>
                  <a:srgbClr val="00E5A0"/>
                </a:solidFill>
                <a:latin typeface="Segoe UI"/>
              </a:rPr>
              <a:t>3 — platform actions</a:t>
            </a:r>
          </a:p>
          <a:p>
            <a:pPr>
              <a:spcBef>
                <a:spcPts val="1000"/>
              </a:spcBef>
            </a:pPr>
            <a:r>
              <a:rPr sz="1300">
                <a:solidFill>
                  <a:srgbClr val="FFFFFF"/>
                </a:solidFill>
                <a:latin typeface="Segoe UI"/>
              </a:rPr>
              <a:t>• Open app, set timer</a:t>
            </a:r>
          </a:p>
          <a:p>
            <a:pPr>
              <a:spcBef>
                <a:spcPts val="1000"/>
              </a:spcBef>
            </a:pPr>
            <a:r>
              <a:rPr sz="1300">
                <a:solidFill>
                  <a:srgbClr val="FFFFFF"/>
                </a:solidFill>
                <a:latin typeface="Segoe UI"/>
              </a:rPr>
              <a:t>• Text/email draft, open site</a:t>
            </a:r>
          </a:p>
          <a:p>
            <a:pPr>
              <a:spcBef>
                <a:spcPts val="1000"/>
              </a:spcBef>
            </a:pPr>
            <a:r>
              <a:rPr sz="1300">
                <a:solidFill>
                  <a:srgbClr val="FFFFFF"/>
                </a:solidFill>
                <a:latin typeface="Segoe UI"/>
              </a:rPr>
              <a:t>• Real native intents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336024" y="1828800"/>
            <a:ext cx="2514600" cy="3566160"/>
          </a:xfrm>
          <a:prstGeom prst="roundRect">
            <a:avLst>
              <a:gd name="adj" fmla="val 8000"/>
            </a:avLst>
          </a:prstGeom>
          <a:solidFill>
            <a:srgbClr val="16171B"/>
          </a:solidFill>
          <a:ln w="12700">
            <a:solidFill>
              <a:srgbClr val="2A2C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700" b="1">
                <a:solidFill>
                  <a:srgbClr val="00E5A0"/>
                </a:solidFill>
                <a:latin typeface="Segoe UI"/>
              </a:rPr>
              <a:t>4 — honest router</a:t>
            </a:r>
          </a:p>
          <a:p>
            <a:pPr>
              <a:spcBef>
                <a:spcPts val="1000"/>
              </a:spcBef>
            </a:pPr>
            <a:r>
              <a:rPr sz="1300">
                <a:solidFill>
                  <a:srgbClr val="FFFFFF"/>
                </a:solidFill>
                <a:latin typeface="Segoe UI"/>
              </a:rPr>
              <a:t>• Decision table + JSONL log</a:t>
            </a:r>
          </a:p>
          <a:p>
            <a:pPr>
              <a:spcBef>
                <a:spcPts val="1000"/>
              </a:spcBef>
            </a:pPr>
            <a:r>
              <a:rPr sz="1300">
                <a:solidFill>
                  <a:srgbClr val="FFFFFF"/>
                </a:solidFill>
                <a:latin typeface="Segoe UI"/>
              </a:rPr>
              <a:t>• Tier badge + confidence</a:t>
            </a:r>
          </a:p>
          <a:p>
            <a:pPr>
              <a:spcBef>
                <a:spcPts val="1000"/>
              </a:spcBef>
            </a:pPr>
            <a:r>
              <a:rPr sz="1300">
                <a:solidFill>
                  <a:srgbClr val="FFFFFF"/>
                </a:solidFill>
                <a:latin typeface="Segoe UI"/>
              </a:rPr>
              <a:t>• Device-state aware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0" y="64008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9AA0B4"/>
                </a:solidFill>
                <a:latin typeface="Segoe UI"/>
              </a:rPr>
              <a:t>4 / 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A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502920"/>
            <a:ext cx="109728" cy="457200"/>
          </a:xfrm>
          <a:prstGeom prst="roundRect">
            <a:avLst>
              <a:gd name="adj" fmla="val 8000"/>
            </a:avLst>
          </a:prstGeom>
          <a:solidFill>
            <a:srgbClr val="00E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" y="45720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E5A0"/>
                </a:solidFill>
                <a:latin typeface="Segoe UI"/>
              </a:rPr>
              <a:t>KEY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7772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Segoe UI"/>
              </a:rPr>
              <a:t>What ships in the box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1112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73736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700" b="1">
                <a:solidFill>
                  <a:srgbClr val="FFFFFF"/>
                </a:solidFill>
                <a:latin typeface="Segoe UI"/>
              </a:rPr>
              <a:t>•  Always-honest answers</a:t>
            </a:r>
          </a:p>
          <a:p>
            <a:r>
              <a:rPr sz="1400">
                <a:solidFill>
                  <a:srgbClr val="9AA0B4"/>
                </a:solidFill>
                <a:latin typeface="Segoe UI"/>
              </a:rPr>
              <a:t>      Tappable “Tier − conf” pill on every response explains exactly what the model did.</a:t>
            </a:r>
          </a:p>
          <a:p>
            <a:pPr>
              <a:spcAft>
                <a:spcPts val="700"/>
              </a:spcAft>
            </a:pPr>
            <a:r>
              <a:rPr sz="1700" b="1">
                <a:solidFill>
                  <a:srgbClr val="FFFFFF"/>
                </a:solidFill>
                <a:latin typeface="Segoe UI"/>
              </a:rPr>
              <a:t>•  On-device skills that can't hallucinate</a:t>
            </a:r>
          </a:p>
          <a:p>
            <a:r>
              <a:rPr sz="1400">
                <a:solidFill>
                  <a:srgbClr val="9AA0B4"/>
                </a:solidFill>
                <a:latin typeface="Segoe UI"/>
              </a:rPr>
              <a:t>      Math, unit conversion, world clock, dice &amp; coin, memos, text transforms — regex, not model dreams.</a:t>
            </a:r>
          </a:p>
          <a:p>
            <a:pPr>
              <a:spcAft>
                <a:spcPts val="700"/>
              </a:spcAft>
            </a:pPr>
            <a:r>
              <a:rPr sz="1700" b="1">
                <a:solidFill>
                  <a:srgbClr val="FFFFFF"/>
                </a:solidFill>
                <a:latin typeface="Segoe UI"/>
              </a:rPr>
              <a:t>•  Models &amp; Benchmarks screen</a:t>
            </a:r>
          </a:p>
          <a:p>
            <a:r>
              <a:rPr sz="1400">
                <a:solidFill>
                  <a:srgbClr val="9AA0B4"/>
                </a:solidFill>
                <a:latin typeface="Segoe UI"/>
              </a:rPr>
              <a:t>      Live numbers: load time, tokens/sec, model size, device profile — proven, not promised.</a:t>
            </a:r>
          </a:p>
          <a:p>
            <a:pPr>
              <a:spcAft>
                <a:spcPts val="700"/>
              </a:spcAft>
            </a:pPr>
            <a:r>
              <a:rPr sz="1700" b="1">
                <a:solidFill>
                  <a:srgbClr val="FFFFFF"/>
                </a:solidFill>
                <a:latin typeface="Segoe UI"/>
              </a:rPr>
              <a:t>•  Prompt Lab</a:t>
            </a:r>
          </a:p>
          <a:p>
            <a:r>
              <a:rPr sz="1400">
                <a:solidFill>
                  <a:srgbClr val="9AA0B4"/>
                </a:solidFill>
                <a:latin typeface="Segoe UI"/>
              </a:rPr>
              <a:t>      Tune sampling per tier (temperature, top-k/p, penalties) and sandbox it live.</a:t>
            </a:r>
          </a:p>
          <a:p>
            <a:pPr>
              <a:spcAft>
                <a:spcPts val="700"/>
              </a:spcAft>
            </a:pPr>
            <a:r>
              <a:rPr sz="1700" b="1">
                <a:solidFill>
                  <a:srgbClr val="FFFFFF"/>
                </a:solidFill>
                <a:latin typeface="Segoe UI"/>
              </a:rPr>
              <a:t>•  Conversation memory + settings</a:t>
            </a:r>
          </a:p>
          <a:p>
            <a:r>
              <a:rPr sz="1400">
                <a:solidFill>
                  <a:srgbClr val="9AA0B4"/>
                </a:solidFill>
                <a:latin typeface="Segoe UI"/>
              </a:rPr>
              <a:t>      Chat history with swipe-to-delete, per-tier model pickers, GPU/Vulkan toggle, theme switch.</a:t>
            </a:r>
          </a:p>
          <a:p>
            <a:pPr>
              <a:spcAft>
                <a:spcPts val="700"/>
              </a:spcAft>
            </a:pPr>
            <a:r>
              <a:rPr sz="1700" b="1">
                <a:solidFill>
                  <a:srgbClr val="FFFFFF"/>
                </a:solidFill>
                <a:latin typeface="Segoe UI"/>
              </a:rPr>
              <a:t>•  OLED-black glassmorphism UI</a:t>
            </a:r>
          </a:p>
          <a:p>
            <a:r>
              <a:rPr sz="1400">
                <a:solidFill>
                  <a:srgbClr val="9AA0B4"/>
                </a:solidFill>
                <a:latin typeface="Segoe UI"/>
              </a:rPr>
              <a:t>      A dark, glassy, battery-kind look tuned for modern phones.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64008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9AA0B4"/>
                </a:solidFill>
                <a:latin typeface="Segoe UI"/>
              </a:rPr>
              <a:t>5 / 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A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502920"/>
            <a:ext cx="109728" cy="457200"/>
          </a:xfrm>
          <a:prstGeom prst="roundRect">
            <a:avLst>
              <a:gd name="adj" fmla="val 8000"/>
            </a:avLst>
          </a:prstGeom>
          <a:solidFill>
            <a:srgbClr val="00E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" y="45720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E5A0"/>
                </a:solidFill>
                <a:latin typeface="Segoe UI"/>
              </a:rPr>
              <a:t>TECHNOLOGIES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7772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Segoe UI"/>
              </a:rPr>
              <a:t>The stack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1112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51560" y="1828800"/>
            <a:ext cx="4846320" cy="1051560"/>
          </a:xfrm>
          <a:prstGeom prst="roundRect">
            <a:avLst>
              <a:gd name="adj" fmla="val 8000"/>
            </a:avLst>
          </a:prstGeom>
          <a:solidFill>
            <a:srgbClr val="16171B"/>
          </a:solidFill>
          <a:ln w="12700">
            <a:solidFill>
              <a:srgbClr val="2A2C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00E5A0"/>
                </a:solidFill>
                <a:latin typeface="Segoe UI"/>
              </a:rPr>
              <a:t>Flutter / Dart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FFFFFF"/>
                </a:solidFill>
                <a:latin typeface="Segoe UI"/>
              </a:rPr>
              <a:t>Single codebase, M3 Material, custom glass widget set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51560" y="3063240"/>
            <a:ext cx="4846320" cy="1051560"/>
          </a:xfrm>
          <a:prstGeom prst="roundRect">
            <a:avLst>
              <a:gd name="adj" fmla="val 8000"/>
            </a:avLst>
          </a:prstGeom>
          <a:solidFill>
            <a:srgbClr val="16171B"/>
          </a:solidFill>
          <a:ln w="12700">
            <a:solidFill>
              <a:srgbClr val="2A2C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00E5A0"/>
                </a:solidFill>
                <a:latin typeface="Segoe UI"/>
              </a:rPr>
              <a:t>llama.cpp • llama_flutter_android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FFFFFF"/>
                </a:solidFill>
                <a:latin typeface="Segoe UI"/>
              </a:rPr>
              <a:t>FFI runner — inference on-device, no ML framework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51560" y="4297680"/>
            <a:ext cx="4846320" cy="1051560"/>
          </a:xfrm>
          <a:prstGeom prst="roundRect">
            <a:avLst>
              <a:gd name="adj" fmla="val 8000"/>
            </a:avLst>
          </a:prstGeom>
          <a:solidFill>
            <a:srgbClr val="16171B"/>
          </a:solidFill>
          <a:ln w="12700">
            <a:solidFill>
              <a:srgbClr val="2A2C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00E5A0"/>
                </a:solidFill>
                <a:latin typeface="Segoe UI"/>
              </a:rPr>
              <a:t>Qwen2.5 Q4_K_M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FFFFFF"/>
                </a:solidFill>
                <a:latin typeface="Segoe UI"/>
              </a:rPr>
              <a:t>0.5B Tier-1 + 1.5B Tier-2, quantized, bundled in the APK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51560" y="5532120"/>
            <a:ext cx="4846320" cy="1051560"/>
          </a:xfrm>
          <a:prstGeom prst="roundRect">
            <a:avLst>
              <a:gd name="adj" fmla="val 8000"/>
            </a:avLst>
          </a:prstGeom>
          <a:solidFill>
            <a:srgbClr val="16171B"/>
          </a:solidFill>
          <a:ln w="12700">
            <a:solidFill>
              <a:srgbClr val="2A2C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00E5A0"/>
                </a:solidFill>
                <a:latin typeface="Segoe UI"/>
              </a:rPr>
              <a:t>Vulkan GPU offload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FFFFFF"/>
                </a:solidFill>
                <a:latin typeface="Segoe UI"/>
              </a:rPr>
              <a:t>Optional acceleration toggled in settings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51560" y="6766560"/>
            <a:ext cx="4846320" cy="1051560"/>
          </a:xfrm>
          <a:prstGeom prst="roundRect">
            <a:avLst>
              <a:gd name="adj" fmla="val 8000"/>
            </a:avLst>
          </a:prstGeom>
          <a:solidFill>
            <a:srgbClr val="16171B"/>
          </a:solidFill>
          <a:ln w="12700">
            <a:solidFill>
              <a:srgbClr val="2A2C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00E5A0"/>
                </a:solidFill>
                <a:latin typeface="Segoe UI"/>
              </a:rPr>
              <a:t>Android MethodChannel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FFFFFF"/>
                </a:solidFill>
                <a:latin typeface="Segoe UI"/>
              </a:rPr>
              <a:t>Native bridge: battery, thermal state, model-file preparation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51560" y="8001000"/>
            <a:ext cx="4846320" cy="1051560"/>
          </a:xfrm>
          <a:prstGeom prst="roundRect">
            <a:avLst>
              <a:gd name="adj" fmla="val 8000"/>
            </a:avLst>
          </a:prstGeom>
          <a:solidFill>
            <a:srgbClr val="16171B"/>
          </a:solidFill>
          <a:ln w="12700">
            <a:solidFill>
              <a:srgbClr val="2A2C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00E5A0"/>
                </a:solidFill>
                <a:latin typeface="Segoe UI"/>
              </a:rPr>
              <a:t>JSON-file persistence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FFFFFF"/>
                </a:solidFill>
                <a:latin typeface="Segoe UI"/>
              </a:rPr>
              <a:t>Conversations + settings on local storage; corrupt files preserved as .bak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24160" y="64008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9AA0B4"/>
                </a:solidFill>
                <a:latin typeface="Segoe UI"/>
              </a:rPr>
              <a:t>6 / 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A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502920"/>
            <a:ext cx="109728" cy="457200"/>
          </a:xfrm>
          <a:prstGeom prst="roundRect">
            <a:avLst>
              <a:gd name="adj" fmla="val 8000"/>
            </a:avLst>
          </a:prstGeom>
          <a:solidFill>
            <a:srgbClr val="00E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" y="45720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E5A0"/>
                </a:solidFill>
                <a:latin typeface="Segoe UI"/>
              </a:rPr>
              <a:t>PROVEN, NOT PROMISED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7772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Segoe UI"/>
              </a:rPr>
              <a:t>Working project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1112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51560" y="1828800"/>
            <a:ext cx="2514600" cy="2194560"/>
          </a:xfrm>
          <a:prstGeom prst="roundRect">
            <a:avLst>
              <a:gd name="adj" fmla="val 8000"/>
            </a:avLst>
          </a:prstGeom>
          <a:solidFill>
            <a:srgbClr val="16171B"/>
          </a:solidFill>
          <a:ln w="12700">
            <a:solidFill>
              <a:srgbClr val="2A2C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000" b="1">
                <a:solidFill>
                  <a:srgbClr val="00E5A0"/>
                </a:solidFill>
                <a:latin typeface="Segoe UI"/>
              </a:rPr>
              <a:t>109 / 109</a:t>
            </a:r>
          </a:p>
          <a:p>
            <a:pPr>
              <a:spcBef>
                <a:spcPts val="800"/>
              </a:spcBef>
            </a:pPr>
            <a:r>
              <a:rPr sz="1300">
                <a:solidFill>
                  <a:srgbClr val="FFFFFF"/>
                </a:solidFill>
                <a:latin typeface="Segoe UI"/>
              </a:rPr>
              <a:t>automated tests pass — decision router, skills, stores, settings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813048" y="1828800"/>
            <a:ext cx="2514600" cy="2194560"/>
          </a:xfrm>
          <a:prstGeom prst="roundRect">
            <a:avLst>
              <a:gd name="adj" fmla="val 8000"/>
            </a:avLst>
          </a:prstGeom>
          <a:solidFill>
            <a:srgbClr val="16171B"/>
          </a:solidFill>
          <a:ln w="12700">
            <a:solidFill>
              <a:srgbClr val="2A2C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000" b="1">
                <a:solidFill>
                  <a:srgbClr val="00E5A0"/>
                </a:solidFill>
                <a:latin typeface="Segoe UI"/>
              </a:rPr>
              <a:t>0</a:t>
            </a:r>
          </a:p>
          <a:p>
            <a:pPr>
              <a:spcBef>
                <a:spcPts val="800"/>
              </a:spcBef>
            </a:pPr>
            <a:r>
              <a:rPr sz="1300">
                <a:solidFill>
                  <a:srgbClr val="FFFFFF"/>
                </a:solidFill>
                <a:latin typeface="Segoe UI"/>
              </a:rPr>
              <a:t>INTERNET permission — the app cannot make a network call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74536" y="1828800"/>
            <a:ext cx="2514600" cy="2194560"/>
          </a:xfrm>
          <a:prstGeom prst="roundRect">
            <a:avLst>
              <a:gd name="adj" fmla="val 8000"/>
            </a:avLst>
          </a:prstGeom>
          <a:solidFill>
            <a:srgbClr val="16171B"/>
          </a:solidFill>
          <a:ln w="12700">
            <a:solidFill>
              <a:srgbClr val="2A2C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000" b="1">
                <a:solidFill>
                  <a:srgbClr val="00E5A0"/>
                </a:solidFill>
                <a:latin typeface="Segoe UI"/>
              </a:rPr>
              <a:t>Seconds</a:t>
            </a:r>
          </a:p>
          <a:p>
            <a:pPr>
              <a:spcBef>
                <a:spcPts val="800"/>
              </a:spcBef>
            </a:pPr>
            <a:r>
              <a:rPr sz="1300">
                <a:solidFill>
                  <a:srgbClr val="FFFFFF"/>
                </a:solidFill>
                <a:latin typeface="Segoe UI"/>
              </a:rPr>
              <a:t>streamed answers on a mid-range phone — benchmarked on-device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336024" y="1828800"/>
            <a:ext cx="2514600" cy="2194560"/>
          </a:xfrm>
          <a:prstGeom prst="roundRect">
            <a:avLst>
              <a:gd name="adj" fmla="val 8000"/>
            </a:avLst>
          </a:prstGeom>
          <a:solidFill>
            <a:srgbClr val="16171B"/>
          </a:solidFill>
          <a:ln w="12700">
            <a:solidFill>
              <a:srgbClr val="2A2C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000" b="1">
                <a:solidFill>
                  <a:srgbClr val="00E5A0"/>
                </a:solidFill>
                <a:latin typeface="Segoe UI"/>
              </a:rPr>
              <a:t>100%</a:t>
            </a:r>
          </a:p>
          <a:p>
            <a:pPr>
              <a:spcBef>
                <a:spcPts val="800"/>
              </a:spcBef>
            </a:pPr>
            <a:r>
              <a:rPr sz="1300">
                <a:solidFill>
                  <a:srgbClr val="FFFFFF"/>
                </a:solidFill>
                <a:latin typeface="Segoe UI"/>
              </a:rPr>
              <a:t>offline: airplane mode still runs calculators, timers, drafts, chats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43891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9AA0B4"/>
                </a:solidFill>
                <a:latin typeface="Segoe UI"/>
              </a:rPr>
              <a:t>Try it yourself — install the release APK, switch on airplane mode, and open a chat.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24160" y="64008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9AA0B4"/>
                </a:solidFill>
                <a:latin typeface="Segoe UI"/>
              </a:rPr>
              <a:t>7 / 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A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502920"/>
            <a:ext cx="109728" cy="457200"/>
          </a:xfrm>
          <a:prstGeom prst="roundRect">
            <a:avLst>
              <a:gd name="adj" fmla="val 8000"/>
            </a:avLst>
          </a:prstGeom>
          <a:solidFill>
            <a:srgbClr val="00E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" y="45720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E5A0"/>
                </a:solidFill>
                <a:latin typeface="Segoe UI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7772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Segoe UI"/>
              </a:rPr>
              <a:t>Roadmap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1112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73736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800" b="1">
                <a:solidFill>
                  <a:srgbClr val="FFFFFF"/>
                </a:solidFill>
                <a:latin typeface="Segoe UI"/>
              </a:rPr>
              <a:t>•  Bigger, better models</a:t>
            </a:r>
          </a:p>
          <a:p>
            <a:r>
              <a:rPr sz="1500">
                <a:solidFill>
                  <a:srgbClr val="9AA0B4"/>
                </a:solidFill>
                <a:latin typeface="Segoe UI"/>
              </a:rPr>
              <a:t>      3B/7B quantized tiers as phones catch up — smarter answers, same privacy.</a:t>
            </a:r>
          </a:p>
          <a:p>
            <a:pPr>
              <a:spcAft>
                <a:spcPts val="700"/>
              </a:spcAft>
            </a:pPr>
            <a:r>
              <a:rPr sz="1800" b="1">
                <a:solidFill>
                  <a:srgbClr val="FFFFFF"/>
                </a:solidFill>
                <a:latin typeface="Segoe UI"/>
              </a:rPr>
              <a:t>•  On-device RAG</a:t>
            </a:r>
          </a:p>
          <a:p>
            <a:r>
              <a:rPr sz="1500">
                <a:solidFill>
                  <a:srgbClr val="9AA0B4"/>
                </a:solidFill>
                <a:latin typeface="Segoe UI"/>
              </a:rPr>
              <a:t>      Index your notes and documents locally; ground answers with zero uploads.</a:t>
            </a:r>
          </a:p>
          <a:p>
            <a:pPr>
              <a:spcAft>
                <a:spcPts val="700"/>
              </a:spcAft>
            </a:pPr>
            <a:r>
              <a:rPr sz="1800" b="1">
                <a:solidFill>
                  <a:srgbClr val="FFFFFF"/>
                </a:solidFill>
                <a:latin typeface="Segoe UI"/>
              </a:rPr>
              <a:t>•  More skills &amp; tool hooks</a:t>
            </a:r>
          </a:p>
          <a:p>
            <a:r>
              <a:rPr sz="1500">
                <a:solidFill>
                  <a:srgbClr val="9AA0B4"/>
                </a:solidFill>
                <a:latin typeface="Segoe UI"/>
              </a:rPr>
              <a:t>      Calendar, smart-home intents, file actions — all deterministic, all offline.</a:t>
            </a:r>
          </a:p>
          <a:p>
            <a:pPr>
              <a:spcAft>
                <a:spcPts val="700"/>
              </a:spcAft>
            </a:pPr>
            <a:r>
              <a:rPr sz="1800" b="1">
                <a:solidFill>
                  <a:srgbClr val="FFFFFF"/>
                </a:solidFill>
                <a:latin typeface="Segoe UI"/>
              </a:rPr>
              <a:t>•  Voice-first polish</a:t>
            </a:r>
          </a:p>
          <a:p>
            <a:r>
              <a:rPr sz="1500">
                <a:solidFill>
                  <a:srgbClr val="9AA0B4"/>
                </a:solidFill>
                <a:latin typeface="Segoe UI"/>
              </a:rPr>
              <a:t>      Faster captioning, wake word, richer speech UI.</a:t>
            </a:r>
          </a:p>
          <a:p>
            <a:pPr>
              <a:spcAft>
                <a:spcPts val="700"/>
              </a:spcAft>
            </a:pPr>
            <a:r>
              <a:rPr sz="1800" b="1">
                <a:solidFill>
                  <a:srgbClr val="FFFFFF"/>
                </a:solidFill>
                <a:latin typeface="Segoe UI"/>
              </a:rPr>
              <a:t>•  Publish &amp; distribute</a:t>
            </a:r>
          </a:p>
          <a:p>
            <a:r>
              <a:rPr sz="1500">
                <a:solidFill>
                  <a:srgbClr val="9AA0B4"/>
                </a:solidFill>
                <a:latin typeface="Segoe UI"/>
              </a:rPr>
              <a:t>      Play Store rollout with the existing release pipeline.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64008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9AA0B4"/>
                </a:solidFill>
                <a:latin typeface="Segoe UI"/>
              </a:rPr>
              <a:t>8 / 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A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0" y="2651760"/>
            <a:ext cx="1188720" cy="73152"/>
          </a:xfrm>
          <a:prstGeom prst="roundRect">
            <a:avLst>
              <a:gd name="adj" fmla="val 8000"/>
            </a:avLst>
          </a:prstGeom>
          <a:solidFill>
            <a:srgbClr val="00E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2834640"/>
            <a:ext cx="9418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Segoe UI"/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749039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00E5A0"/>
                </a:solidFill>
                <a:latin typeface="Segoe UI"/>
              </a:rPr>
              <a:t>github.com/charansaiponnada/candor  •  release v0.1.0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297680"/>
            <a:ext cx="9418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9AA0B4"/>
                </a:solidFill>
                <a:latin typeface="Segoe UI"/>
              </a:rPr>
              <a:t>“An assistant that knows when to hold back — and tells you.”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64008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9AA0B4"/>
                </a:solidFill>
                <a:latin typeface="Segoe UI"/>
              </a:rPr>
              <a:t>9 / 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