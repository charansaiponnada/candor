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ew_app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88720"/>
            <a:ext cx="1463040" cy="1463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880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7600" b="1">
                <a:solidFill>
                  <a:srgbClr val="FFFFFF"/>
                </a:solidFill>
                <a:latin typeface="Segoe UI"/>
              </a:rPr>
              <a:t>CANDOR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862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00E5A0"/>
                </a:solidFill>
                <a:latin typeface="Segoe UI"/>
              </a:rPr>
              <a:t>The assistant that tells you when it's holding back.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8686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9A9A"/>
                </a:solidFill>
                <a:latin typeface="Segoe UI"/>
              </a:rPr>
              <a:t>A privacy-first AI assistant that runs two quantized small language models entirely on your phone. No server, no subscription, no network permission.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57784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1B1B1B"/>
          </a:solidFill>
          <a:ln w="12700">
            <a:solidFill>
              <a:srgbClr val="00E5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100" b="1">
                <a:solidFill>
                  <a:srgbClr val="00E5A0"/>
                </a:solidFill>
                <a:latin typeface="Segoe UI"/>
              </a:rPr>
              <a:t>100% on-device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557784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1B1B1B"/>
          </a:solidFill>
          <a:ln w="12700">
            <a:solidFill>
              <a:srgbClr val="00E5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100" b="1">
                <a:solidFill>
                  <a:srgbClr val="00E5A0"/>
                </a:solidFill>
                <a:latin typeface="Segoe UI"/>
              </a:rPr>
              <a:t>0 network calls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557784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1B1B1B"/>
          </a:solidFill>
          <a:ln w="127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100" b="1">
                <a:solidFill>
                  <a:srgbClr val="7C4DFF"/>
                </a:solidFill>
                <a:latin typeface="Segoe UI"/>
              </a:rPr>
              <a:t>133/133 tests pass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557784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1B1B1B"/>
          </a:solidFill>
          <a:ln w="127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100" b="1">
                <a:solidFill>
                  <a:srgbClr val="FFD93D"/>
                </a:solidFill>
                <a:latin typeface="Segoe UI"/>
              </a:rPr>
              <a:t>Runs on a mid-range 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66666"/>
                </a:solidFill>
                <a:latin typeface="Consolas"/>
              </a:rPr>
              <a:t>LUMINIX'26 Grand Finale   ·   Charan Sai Ponnada   ·   github.com/charansaiponnada/candor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6692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2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561320" cy="127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Cloud AI disappears exactly when you need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556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A9A9A"/>
                </a:solidFill>
                <a:latin typeface="Segoe UI"/>
              </a:rPr>
              <a:t>Villages, tunnels, flights, outages, an empty data pack — and the assistant is gone.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48840"/>
            <a:ext cx="5074920" cy="3749039"/>
          </a:xfrm>
          <a:prstGeom prst="roundRect">
            <a:avLst>
              <a:gd name="adj" fmla="val 6000"/>
            </a:avLst>
          </a:prstGeom>
          <a:solidFill>
            <a:srgbClr val="140B0B"/>
          </a:solidFill>
          <a:ln w="12700">
            <a:solidFill>
              <a:srgbClr val="3A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957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6B6B"/>
                </a:solidFill>
                <a:latin typeface="Segoe UI"/>
              </a:rPr>
              <a:t>TODAY — RENTED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No network, no assistant.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A9A"/>
                </a:solidFill>
                <a:latin typeface="Segoe UI"/>
              </a:rPr>
              <a:t>Every answer is a round-trip to someone else's datacentre.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00" b="1">
                <a:solidFill>
                  <a:srgbClr val="FFFFFF"/>
                </a:solidFill>
                <a:latin typeface="Segoe UI"/>
              </a:rPr>
              <a:t>Your words leave the device.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A9A"/>
                </a:solidFill>
                <a:latin typeface="Segoe UI"/>
              </a:rPr>
              <a:t>Prompts travel, get logged, get retained.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00" b="1">
                <a:solidFill>
                  <a:srgbClr val="FFFFFF"/>
                </a:solidFill>
                <a:latin typeface="Segoe UI"/>
              </a:rPr>
              <a:t>Premium phones first.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A9A"/>
                </a:solidFill>
                <a:latin typeface="Segoe UI"/>
              </a:rPr>
              <a:t>Built-in on-device AI ships mostly on expensive flagships.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00" b="1">
                <a:solidFill>
                  <a:srgbClr val="FFFFFF"/>
                </a:solidFill>
                <a:latin typeface="Segoe UI"/>
              </a:rPr>
              <a:t>Metered and rate-limited.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A9A"/>
                </a:solidFill>
                <a:latin typeface="Segoe UI"/>
              </a:rPr>
              <a:t>Stop paying and the intelligence switches off.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53328" y="3794760"/>
            <a:ext cx="502920" cy="457200"/>
          </a:xfrm>
          <a:prstGeom prst="rightArrow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148840"/>
            <a:ext cx="4983480" cy="3749039"/>
          </a:xfrm>
          <a:prstGeom prst="roundRect">
            <a:avLst>
              <a:gd name="adj" fmla="val 6000"/>
            </a:avLst>
          </a:prstGeom>
          <a:solidFill>
            <a:srgbClr val="041611"/>
          </a:solidFill>
          <a:ln w="12700">
            <a:solidFill>
              <a:srgbClr val="0E4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395728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CANDOR — OWNED 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880360"/>
            <a:ext cx="43891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Two models ride in the APK.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A9A"/>
                </a:solidFill>
                <a:latin typeface="Segoe UI"/>
              </a:rPr>
              <a:t>Qwen2.5 0.5B + 1.5B, 4-bit quantized, run by llama.cpp.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00" b="1">
                <a:solidFill>
                  <a:srgbClr val="FFFFFF"/>
                </a:solidFill>
                <a:latin typeface="Segoe UI"/>
              </a:rPr>
              <a:t>Incapable of phoning home.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A9A"/>
                </a:solidFill>
                <a:latin typeface="Segoe UI"/>
              </a:rPr>
              <a:t>The release manifest declares no INTERNET permission.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00" b="1">
                <a:solidFill>
                  <a:srgbClr val="FFFFFF"/>
                </a:solidFill>
                <a:latin typeface="Segoe UI"/>
              </a:rPr>
              <a:t>Runs on the phone you own.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A9A"/>
                </a:solidFill>
                <a:latin typeface="Segoe UI"/>
              </a:rPr>
              <a:t>Proven on a mid-range Samsung Galaxy, CPU only.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00" b="1">
                <a:solidFill>
                  <a:srgbClr val="FFFFFF"/>
                </a:solidFill>
                <a:latin typeface="Segoe UI"/>
              </a:rPr>
              <a:t>Honest about its own limits.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A9A"/>
                </a:solidFill>
                <a:latin typeface="Segoe UI"/>
              </a:rPr>
              <a:t>Every reply names the model that answered, and why.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61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00E5A0"/>
                </a:solidFill>
                <a:latin typeface="Segoe UI"/>
              </a:rPr>
              <a:t>Airplane mode is the demo: chat, calculators, converters, notes, timers and drafts all still 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6692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3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561320" cy="127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A billion Indians online — not everywhere.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556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A9A9A"/>
                </a:solidFill>
                <a:latin typeface="Segoe UI"/>
              </a:rPr>
              <a:t>The people who most need a helpful assistant are the ones cloud AI serves worst.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48840"/>
            <a:ext cx="2468880" cy="173736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331720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D93D"/>
                </a:solidFill>
                <a:latin typeface="Segoe UI"/>
              </a:rPr>
              <a:t>48 vs 127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10896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internet subscriptions per 100 people, rural vs urban India (Q1 2026)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2148840"/>
            <a:ext cx="2468880" cy="173736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608" y="2331720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6B6B"/>
                </a:solidFill>
                <a:latin typeface="Segoe UI"/>
              </a:rPr>
              <a:t>300M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310896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people worldwide still live outside any mobile broadband coverage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148840"/>
            <a:ext cx="2468880" cy="173736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331720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7C4DFF"/>
                </a:solidFill>
                <a:latin typeface="Segoe UI"/>
              </a:rPr>
              <a:t>84%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of GenAI users worry the data they enter could go public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400" y="2148840"/>
            <a:ext cx="2468880" cy="173736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16568" y="2331720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00E5A0"/>
                </a:solidFill>
                <a:latin typeface="Segoe UI"/>
              </a:rPr>
              <a:t>13%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6568" y="310896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of phones shipped in India in H1 2025 had built-in GenAI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160520"/>
            <a:ext cx="5120640" cy="214884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3708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THE MARKET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736592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$11.8B → $56.8B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394960"/>
            <a:ext cx="4572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9A9A9A"/>
                </a:solidFill>
                <a:latin typeface="Segoe UI"/>
              </a:rPr>
              <a:t>Global edge-AI market, 2025 → 2030 (36.9% CAGR).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250" b="0">
                <a:solidFill>
                  <a:srgbClr val="9A9A9A"/>
                </a:solidFill>
                <a:latin typeface="Segoe UI"/>
              </a:rPr>
              <a:t>Smartphones are 80.5% of edge-AI hardware by volume.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160520"/>
            <a:ext cx="5120640" cy="2148840"/>
          </a:xfrm>
          <a:prstGeom prst="roundRect">
            <a:avLst>
              <a:gd name="adj" fmla="val 6000"/>
            </a:avLst>
          </a:prstGeom>
          <a:solidFill>
            <a:srgbClr val="041611"/>
          </a:solidFill>
          <a:ln w="12700">
            <a:solidFill>
              <a:srgbClr val="0E4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43708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OUR 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736592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87% of new phones in India ship without built-in GenAI.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>
                <a:solidFill>
                  <a:srgbClr val="9A9A9A"/>
                </a:solidFill>
                <a:latin typeface="Segoe UI"/>
              </a:rPr>
              <a:t>Candor doesn't wait for a flagship or a signal: a 4-bit model cascade gives any mid-range Android a private, offline assistant today.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492240"/>
            <a:ext cx="10561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66666"/>
                </a:solidFill>
                <a:latin typeface="Segoe UI"/>
              </a:rPr>
              <a:t>Sources: TRAI via The Week (2026) · GSMA SOMIC 2025 · Cisco Privacy Survey 2024 · Counterpoint (H1 2025) · BCC Research (2025) · MarketsandMarkets — full list on the last slide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WHO IT'S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6692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4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561320" cy="127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Built for where the network doesn't reach.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556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A9A9A"/>
                </a:solidFill>
                <a:latin typeface="Segoe UI"/>
              </a:rPr>
              <a:t>Each segment has the same two needs: it must work offline, and the data must stay put.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9456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42316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E5A0"/>
                </a:solidFill>
                <a:latin typeface="Segoe UI"/>
              </a:rPr>
              <a:t>Frontline field workers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852928"/>
            <a:ext cx="2834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9A9A"/>
                </a:solidFill>
                <a:latin typeface="Segoe UI"/>
              </a:rPr>
              <a:t>Health, agri-extension and survey staff in low-signal villages: notes, unit maths and quick reference with zero uploads.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219456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2584" y="242316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E5A0"/>
                </a:solidFill>
                <a:latin typeface="Segoe UI"/>
              </a:rPr>
              <a:t>Students off the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4" y="2852928"/>
            <a:ext cx="2834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9A9A"/>
                </a:solidFill>
                <a:latin typeface="Segoe UI"/>
              </a:rPr>
              <a:t>A patient explainer that works without a data pack, on the family's shared mid-range phone.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219456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242316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D93D"/>
                </a:solidFill>
                <a:latin typeface="Segoe UI"/>
              </a:rPr>
              <a:t>Travel, defence &amp; disaster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2852928"/>
            <a:ext cx="2834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9A9A"/>
                </a:solidFill>
                <a:latin typeface="Segoe UI"/>
              </a:rPr>
              <a:t>Flights, remote postings and outages — exactly when networks are down or not permitted.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20624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434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7C4DFF"/>
                </a:solidFill>
                <a:latin typeface="Segoe UI"/>
              </a:rPr>
              <a:t>Privacy-bound professionals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864607"/>
            <a:ext cx="2834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9A9A"/>
                </a:solidFill>
                <a:latin typeface="Segoe UI"/>
              </a:rPr>
              <a:t>Doctors, lawyers, journalists: drafts and questions that must never touch a third-party server.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420624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72584" y="4434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7C4DFF"/>
                </a:solidFill>
                <a:latin typeface="Segoe UI"/>
              </a:rPr>
              <a:t>Locked-down enterprises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4864607"/>
            <a:ext cx="2834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9A9A"/>
                </a:solidFill>
                <a:latin typeface="Segoe UI"/>
              </a:rPr>
              <a:t>Field sales and ops fleets where IT policy forbids sending data to cloud AI.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10144" y="420624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6175" y="4434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D93D"/>
                </a:solidFill>
                <a:latin typeface="Segoe UI"/>
              </a:rPr>
              <a:t>Everyday users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5" y="4864607"/>
            <a:ext cx="2834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9A9A"/>
                </a:solidFill>
                <a:latin typeface="Segoe UI"/>
              </a:rPr>
              <a:t>Anyone tired of subscriptions, rate limits and wondering where their prompts end up.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6692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5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561320" cy="127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One honest router, two tiers, zero packets.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556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A9A9A"/>
                </a:solidFill>
                <a:latin typeface="Segoe UI"/>
              </a:rPr>
              <a:t>Every query is answered at the cheapest tier that can hold it — and labelled with which one did.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00400"/>
            <a:ext cx="1691640" cy="105156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00E5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3346704"/>
            <a:ext cx="1472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E5A0"/>
                </a:solidFill>
                <a:latin typeface="Segoe UI"/>
              </a:rPr>
              <a:t>USER QUERY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657600"/>
            <a:ext cx="1472184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typed or spoken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(on-device STT)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06040" y="3602736"/>
            <a:ext cx="320040" cy="256032"/>
          </a:xfrm>
          <a:prstGeom prst="rightArrow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0" y="3063240"/>
            <a:ext cx="1828800" cy="132588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27248" y="3209544"/>
            <a:ext cx="1609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D93D"/>
                </a:solidFill>
                <a:latin typeface="Segoe UI"/>
              </a:rPr>
              <a:t>INTENT 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7248" y="3520440"/>
            <a:ext cx="1609344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regex classifier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skill / action / model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9240" y="224028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58968" y="2386584"/>
            <a:ext cx="20665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D93D"/>
                </a:solidFill>
                <a:latin typeface="Segoe UI"/>
              </a:rPr>
              <a:t>SKILLS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58968" y="2697480"/>
            <a:ext cx="206654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9A9A9A"/>
                </a:solidFill>
                <a:latin typeface="Segoe UI"/>
              </a:rPr>
              <a:t>calculator · units · dates · notes · dice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9240" y="32918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58968" y="3438144"/>
            <a:ext cx="20665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D93D"/>
                </a:solidFill>
                <a:latin typeface="Segoe UI"/>
              </a:rPr>
              <a:t>PLATFORM 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3749039"/>
            <a:ext cx="206654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9A9A9A"/>
                </a:solidFill>
                <a:latin typeface="Segoe UI"/>
              </a:rPr>
              <a:t>timer · apps · SMS · email · settings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49240" y="4343400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00E5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58968" y="4489704"/>
            <a:ext cx="20665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E5A0"/>
                </a:solidFill>
                <a:latin typeface="Segoe UI"/>
              </a:rPr>
              <a:t>ROUTER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58968" y="4800600"/>
            <a:ext cx="206654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multi-step question?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Tier-1 unsure / refusing?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983480" y="2578608"/>
            <a:ext cx="274320" cy="237744"/>
          </a:xfrm>
          <a:prstGeom prst="rightArrow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4983480" y="3630168"/>
            <a:ext cx="274320" cy="237744"/>
          </a:xfrm>
          <a:prstGeom prst="rightArrow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4983480" y="4727448"/>
            <a:ext cx="274320" cy="237744"/>
          </a:xfrm>
          <a:prstGeom prst="rightArrow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38160" y="3977639"/>
            <a:ext cx="1737360" cy="173736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00E5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47888" y="4123944"/>
            <a:ext cx="1517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E5A0"/>
                </a:solidFill>
                <a:latin typeface="Segoe UI"/>
              </a:rPr>
              <a:t>TIER-1 · 0.5B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4434840"/>
            <a:ext cx="1517904" cy="1207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fast default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self-scored answer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skipped for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multi-step asks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726679" y="4727448"/>
            <a:ext cx="320040" cy="237744"/>
          </a:xfrm>
          <a:prstGeom prst="rightArrow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332720" y="3977639"/>
            <a:ext cx="1463040" cy="77724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42448" y="412394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7C4DFF"/>
                </a:solidFill>
                <a:latin typeface="Segoe UI"/>
              </a:rPr>
              <a:t>TIER-2 · 1.5B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42448" y="4434840"/>
            <a:ext cx="1243584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9A9A9A"/>
                </a:solidFill>
                <a:latin typeface="Segoe UI"/>
              </a:rPr>
              <a:t>deeper answer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332720" y="4937760"/>
            <a:ext cx="1463040" cy="77724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42448" y="50840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6B6B"/>
                </a:solidFill>
                <a:latin typeface="Segoe UI"/>
              </a:rPr>
              <a:t>CONSTRAINED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42448" y="5394960"/>
            <a:ext cx="1243584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9A9A9A"/>
                </a:solidFill>
                <a:latin typeface="Segoe UI"/>
              </a:rPr>
              <a:t>Tier-1 + reason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9966960" y="4251960"/>
            <a:ext cx="274320" cy="237744"/>
          </a:xfrm>
          <a:prstGeom prst="rightArrow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ight Arrow 37"/>
          <p:cNvSpPr/>
          <p:nvPr/>
        </p:nvSpPr>
        <p:spPr>
          <a:xfrm>
            <a:off x="9966960" y="5212080"/>
            <a:ext cx="274320" cy="237744"/>
          </a:xfrm>
          <a:prstGeom prst="rightArrow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863840" y="5989320"/>
            <a:ext cx="2286000" cy="566928"/>
          </a:xfrm>
          <a:prstGeom prst="roundRect">
            <a:avLst>
              <a:gd name="adj" fmla="val 6000"/>
            </a:avLst>
          </a:prstGeom>
          <a:solidFill>
            <a:srgbClr val="101018"/>
          </a:solidFill>
          <a:ln w="127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36992" y="6071616"/>
            <a:ext cx="21396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7C4DFF"/>
                </a:solidFill>
                <a:latin typeface="Segoe UI"/>
              </a:rPr>
              <a:t>DEVICE GATE</a:t>
            </a:r>
          </a:p>
          <a:p>
            <a:pPr algn="ctr">
              <a:lnSpc>
                <a:spcPct val="115000"/>
              </a:lnSpc>
            </a:pPr>
            <a:r>
              <a:rPr sz="900" b="0">
                <a:solidFill>
                  <a:srgbClr val="9A9A9A"/>
                </a:solidFill>
                <a:latin typeface="Segoe UI"/>
              </a:rPr>
              <a:t>battery ≥ 20%  ·  thermal &lt; MODERATE</a:t>
            </a:r>
          </a:p>
        </p:txBody>
      </p:sp>
      <p:sp>
        <p:nvSpPr>
          <p:cNvPr id="41" name="Up Arrow 40"/>
          <p:cNvSpPr/>
          <p:nvPr/>
        </p:nvSpPr>
        <p:spPr>
          <a:xfrm>
            <a:off x="8887968" y="5742432"/>
            <a:ext cx="237744" cy="228600"/>
          </a:xfrm>
          <a:prstGeom prst="upArrow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22960" y="4754880"/>
            <a:ext cx="4023360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97280" y="49377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E5A0"/>
                </a:solidFill>
                <a:latin typeface="Segoe UI"/>
              </a:rPr>
              <a:t>THE OUTPUT CONTRACT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" y="5285232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onsolas"/>
              </a:rPr>
              <a:t>● Tier-2 · 1.5B answering · 12s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" y="566928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A9A9A"/>
                </a:solidFill>
                <a:latin typeface="Segoe UI"/>
              </a:rPr>
              <a:t>The chat shows which model is working, live. Comparisons, step-by-step and code go straight to Tier-2 — no wasted 0.5B pass.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6692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6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561320" cy="127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Real screens, captured on the phone.</a:t>
            </a:r>
          </a:p>
        </p:txBody>
      </p:sp>
      <p:pic>
        <p:nvPicPr>
          <p:cNvPr id="7" name="Picture 6" descr="chat_tie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1899138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263640"/>
            <a:ext cx="27220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Tier-1 answer with its honesty pill</a:t>
            </a:r>
          </a:p>
        </p:txBody>
      </p:sp>
      <p:pic>
        <p:nvPicPr>
          <p:cNvPr id="9" name="Picture 8" descr="chat_tier2_stream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0353" y="2011680"/>
            <a:ext cx="1899138" cy="411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98873" y="6263640"/>
            <a:ext cx="27220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Escalated to Tier-2, streaming live</a:t>
            </a:r>
          </a:p>
        </p:txBody>
      </p:sp>
      <p:pic>
        <p:nvPicPr>
          <p:cNvPr id="11" name="Picture 10" descr="tier_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7747" y="2011680"/>
            <a:ext cx="1899138" cy="411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86267" y="6263640"/>
            <a:ext cx="27220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Tap the pill: why this model answered</a:t>
            </a:r>
          </a:p>
        </p:txBody>
      </p:sp>
      <p:pic>
        <p:nvPicPr>
          <p:cNvPr id="13" name="Picture 12" descr="skil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5141" y="2011680"/>
            <a:ext cx="1899138" cy="4114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73661" y="6263640"/>
            <a:ext cx="27220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Deterministic skills, zero tokens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6692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7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561320" cy="127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Proven, not promised.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556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A9A9A"/>
                </a:solidFill>
                <a:latin typeface="Segoe UI"/>
              </a:rPr>
              <a:t>Everything below is measurable on a mid-range handset in airplane mode, today.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48840"/>
            <a:ext cx="2468880" cy="160020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33172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00E5A0"/>
                </a:solidFill>
                <a:latin typeface="Segoe UI"/>
              </a:rPr>
              <a:t>133/133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06324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automated tests pass
router · skills · stores · 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2148840"/>
            <a:ext cx="2468880" cy="160020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608" y="233172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00E5A0"/>
                </a:solidFill>
                <a:latin typeface="Segoe U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306324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INTERNET permissions
in the release manifest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148840"/>
            <a:ext cx="2468880" cy="160020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33172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7C4DFF"/>
                </a:solidFill>
                <a:latin typeface="Segoe UI"/>
              </a:rPr>
              <a:t>~1.5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06324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two 4-bit models in the APK
0.5B + 1.5B, Q4_K_M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400" y="2148840"/>
            <a:ext cx="2468880" cy="160020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16568" y="233172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D93D"/>
                </a:solidFill>
                <a:latin typeface="Segoe U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6568" y="306324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offline capability
no feature needs a network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1148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IN THE 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80"/>
            <a:ext cx="51206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CCCCCC"/>
                </a:solidFill>
                <a:latin typeface="Segoe UI"/>
              </a:rPr>
              <a:t>Models &amp; Benchmarks — live load time, tokens/sec and size per bundled model, measured on this phone.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50" b="0">
                <a:solidFill>
                  <a:srgbClr val="CCCCCC"/>
                </a:solidFill>
                <a:latin typeface="Segoe UI"/>
              </a:rPr>
              <a:t>Prompt Lab — per-tier temperature, top-k/top-p and penalty sliders with a live sandbox.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50" b="0">
                <a:solidFill>
                  <a:srgbClr val="CCCCCC"/>
                </a:solidFill>
                <a:latin typeface="Segoe UI"/>
              </a:rPr>
              <a:t>Debug panel — real battery and thermal readout, plus a simulated constrained device.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50" b="0">
                <a:solidFill>
                  <a:srgbClr val="CCCCCC"/>
                </a:solidFill>
                <a:latin typeface="Segoe UI"/>
              </a:rPr>
              <a:t>Voice input, chat history, per-tier model pickers, Vulkan GPU toggle.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114800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THE STACK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52628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Flutter / Dart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452628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A9A9A"/>
                </a:solidFill>
                <a:latin typeface="Segoe UI"/>
              </a:rPr>
              <a:t>single codebase, custom glass widget set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928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llama.cpp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4928616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A9A9A"/>
                </a:solidFill>
                <a:latin typeface="Segoe UI"/>
              </a:rPr>
              <a:t>via the llama_flutter_android plugin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33095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Qwen2.5 Q4_K_M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330952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A9A9A"/>
                </a:solidFill>
                <a:latin typeface="Segoe UI"/>
              </a:rPr>
              <a:t>0.5B Tier-1 + 1.5B Tier-2, in the APK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3328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Kotlin channel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733288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A9A9A"/>
                </a:solidFill>
                <a:latin typeface="Segoe UI"/>
              </a:rPr>
              <a:t>battery, thermal, model-file prep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61356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Vulkan offload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135624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A9A9A"/>
                </a:solidFill>
                <a:latin typeface="Segoe UI"/>
              </a:rPr>
              <a:t>optional GPU acceleration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6692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8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561320" cy="127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Offline, private, affordable — pick all three.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9A9A9A"/>
                </a:solidFill>
                <a:latin typeface="Segoe UI"/>
              </a:rPr>
              <a:t>Works fully
offline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22392" y="2103120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9A9A9A"/>
                </a:solidFill>
                <a:latin typeface="Segoe UI"/>
              </a:rPr>
              <a:t>Data stays
on device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2864" y="2103120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9A9A9A"/>
                </a:solidFill>
                <a:latin typeface="Segoe UI"/>
              </a:rPr>
              <a:t>Runs on mid-
range phones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2103120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9A9A9A"/>
                </a:solidFill>
                <a:latin typeface="Segoe UI"/>
              </a:rPr>
              <a:t>Says which model
answered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93808" y="2103120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9A9A9A"/>
                </a:solidFill>
                <a:latin typeface="Segoe UI"/>
              </a:rPr>
              <a:t>Exact skills &amp;
phone 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88920"/>
            <a:ext cx="10561320" cy="768096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1693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Cloud assistants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2783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A9A9A"/>
                </a:solidFill>
                <a:latin typeface="Segoe UI"/>
              </a:rPr>
              <a:t>ChatGPT, Gemini 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898648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666666"/>
                </a:solidFill>
                <a:latin typeface="Segoe UI"/>
              </a:rPr>
              <a:t>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2392" y="2898648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666666"/>
                </a:solidFill>
                <a:latin typeface="Segoe UI"/>
              </a:rPr>
              <a:t>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2864" y="2898648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00E5A0"/>
                </a:solidFill>
                <a:latin typeface="Segoe UI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3336" y="2898648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666666"/>
                </a:solidFill>
                <a:latin typeface="Segoe UI"/>
              </a:rPr>
              <a:t>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93808" y="2898648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FFD93D"/>
                </a:solidFill>
                <a:latin typeface="Segoe UI"/>
              </a:rPr>
              <a:t>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685031"/>
            <a:ext cx="10561320" cy="768096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813047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Built-in phone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12394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A9A9A"/>
                </a:solidFill>
                <a:latin typeface="Segoe UI"/>
              </a:rPr>
              <a:t>Galaxy AI, Gemini Nano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3794759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FFD93D"/>
                </a:solidFill>
                <a:latin typeface="Segoe UI"/>
              </a:rPr>
              <a:t>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22392" y="3794759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FFD93D"/>
                </a:solidFill>
                <a:latin typeface="Segoe UI"/>
              </a:rPr>
              <a:t>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12864" y="3794759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666666"/>
                </a:solidFill>
                <a:latin typeface="Segoe UI"/>
              </a:rPr>
              <a:t>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3336" y="3794759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666666"/>
                </a:solidFill>
                <a:latin typeface="Segoe UI"/>
              </a:rPr>
              <a:t>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93808" y="3794759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00E5A0"/>
                </a:solidFill>
                <a:latin typeface="Segoe UI"/>
              </a:rPr>
              <a:t>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581144"/>
            <a:ext cx="10561320" cy="768096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709159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Local LLM apps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02005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A9A9A"/>
                </a:solidFill>
                <a:latin typeface="Segoe UI"/>
              </a:rPr>
              <a:t>AI Edge Gallery, PocketPal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4690872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00E5A0"/>
                </a:solidFill>
                <a:latin typeface="Segoe UI"/>
              </a:rPr>
              <a:t>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22392" y="4690872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00E5A0"/>
                </a:solidFill>
                <a:latin typeface="Segoe UI"/>
              </a:rPr>
              <a:t>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12864" y="4690872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FFD93D"/>
                </a:solidFill>
                <a:latin typeface="Segoe UI"/>
              </a:rPr>
              <a:t>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3336" y="4690872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666666"/>
                </a:solidFill>
                <a:latin typeface="Segoe UI"/>
              </a:rPr>
              <a:t>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8" y="4690872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FFD93D"/>
                </a:solidFill>
                <a:latin typeface="Segoe UI"/>
              </a:rPr>
              <a:t>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5477256"/>
            <a:ext cx="10561320" cy="768096"/>
          </a:xfrm>
          <a:prstGeom prst="roundRect">
            <a:avLst>
              <a:gd name="adj" fmla="val 6000"/>
            </a:avLst>
          </a:prstGeom>
          <a:solidFill>
            <a:srgbClr val="041611"/>
          </a:solidFill>
          <a:ln w="12700">
            <a:solidFill>
              <a:srgbClr val="0E4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97280" y="5605272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E5A0"/>
                </a:solidFill>
                <a:latin typeface="Segoe UI"/>
              </a:rPr>
              <a:t>Candor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591616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A9A9A"/>
                </a:solidFill>
                <a:latin typeface="Segoe UI"/>
              </a:rPr>
              <a:t>this project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5586984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00E5A0"/>
                </a:solidFill>
                <a:latin typeface="Segoe UI"/>
              </a:rPr>
              <a:t>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22392" y="5586984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00E5A0"/>
                </a:solidFill>
                <a:latin typeface="Segoe UI"/>
              </a:rPr>
              <a:t>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12864" y="5586984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00E5A0"/>
                </a:solidFill>
                <a:latin typeface="Segoe UI"/>
              </a:rP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03336" y="5586984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00E5A0"/>
                </a:solidFill>
                <a:latin typeface="Segoe UI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93808" y="5586984"/>
            <a:ext cx="1490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00E5A0"/>
                </a:solidFill>
                <a:latin typeface="Segoe UI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6492240"/>
            <a:ext cx="10561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66666"/>
                </a:solidFill>
                <a:latin typeface="Segoe UI"/>
              </a:rPr>
              <a:t>● yes   ◐ partial / device- or feature-dependent   ○ no.   Based on public product documentation, Sep 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6692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9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561320" cy="127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Three ways to earn — and almost no cost to serve.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556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A9A9A"/>
                </a:solidFill>
                <a:latin typeface="Segoe UI"/>
              </a:rPr>
              <a:t>Proposed model. Inference runs on the user's own phone, so there is no per-query GPU bill.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94560"/>
            <a:ext cx="3291840" cy="306324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957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E5A0"/>
                </a:solidFill>
                <a:latin typeface="Segoe UI"/>
              </a:rPr>
              <a:t>CONSUMERS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9748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Free + one-time 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46120"/>
            <a:ext cx="27889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9A9A"/>
                </a:solidFill>
                <a:latin typeface="Segoe UI"/>
              </a:rPr>
              <a:t>•  Free: the full offline assistant, both tiers, every skill.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200" b="0">
                <a:solidFill>
                  <a:srgbClr val="9A9A9A"/>
                </a:solidFill>
                <a:latin typeface="Segoe UI"/>
              </a:rPr>
              <a:t>•  Pro (one-time, ~₹149 proposed): extra model packs, document Q&amp;A, custom skills.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200" b="0">
                <a:solidFill>
                  <a:srgbClr val="9A9A9A"/>
                </a:solidFill>
                <a:latin typeface="Segoe UI"/>
              </a:rPr>
              <a:t>•  No subscription — nothing to meter.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6552" y="2194560"/>
            <a:ext cx="3291840" cy="306324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23957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C4DFF"/>
                </a:solidFill>
                <a:latin typeface="Segoe UI"/>
              </a:rPr>
              <a:t>ORGANISATIONS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69748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Offline-AI licence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3246120"/>
            <a:ext cx="27889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9A9A"/>
                </a:solidFill>
                <a:latin typeface="Segoe UI"/>
              </a:rPr>
              <a:t>•  NGOs, health &amp; agri programs, field fleets, defence.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200" b="0">
                <a:solidFill>
                  <a:srgbClr val="9A9A9A"/>
                </a:solidFill>
                <a:latin typeface="Segoe UI"/>
              </a:rPr>
              <a:t>•  Per-device annual licence: private deployment, custom skill packs, MDM-ready builds.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200" b="0">
                <a:solidFill>
                  <a:srgbClr val="9A9A9A"/>
                </a:solidFill>
                <a:latin typeface="Segoe UI"/>
              </a:rPr>
              <a:t>•  Priced per seat, not per query.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2194560"/>
            <a:ext cx="3291840" cy="306324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4" y="23957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D93D"/>
                </a:solidFill>
                <a:latin typeface="Segoe UI"/>
              </a:rPr>
              <a:t>OEMs &amp; TELCOS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69748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Preload royalty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3246120"/>
            <a:ext cx="27889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9A9A"/>
                </a:solidFill>
                <a:latin typeface="Segoe UI"/>
              </a:rPr>
              <a:t>•  Budget-phone makers ship an AI assistant with no cloud contract.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200" b="0">
                <a:solidFill>
                  <a:srgbClr val="9A9A9A"/>
                </a:solidFill>
                <a:latin typeface="Segoe UI"/>
              </a:rPr>
              <a:t>•  Small per-unit royalty; differentiates sub-premium devices.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200" b="0">
                <a:solidFill>
                  <a:srgbClr val="9A9A9A"/>
                </a:solidFill>
                <a:latin typeface="Segoe UI"/>
              </a:rPr>
              <a:t>•  Distribution at the scale of shipments.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486400"/>
            <a:ext cx="10561320" cy="868680"/>
          </a:xfrm>
          <a:prstGeom prst="roundRect">
            <a:avLst>
              <a:gd name="adj" fmla="val 6000"/>
            </a:avLst>
          </a:prstGeom>
          <a:solidFill>
            <a:srgbClr val="041611"/>
          </a:solidFill>
          <a:ln w="12700">
            <a:solidFill>
              <a:srgbClr val="0E4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5669280"/>
            <a:ext cx="9875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Unit economics: a cloud assistant pays for every token it generates. Candor's marginal cost per answer is ≈ ₹0 — the phone already paid for the compute.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6692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10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561320" cy="127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Start where the network ends.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556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A9A9A"/>
                </a:solidFill>
                <a:latin typeface="Segoe UI"/>
              </a:rPr>
              <a:t>Plan: land with mission-driven field programs, prove it, then scale through devices.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94560"/>
            <a:ext cx="3291840" cy="283464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957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E5A0"/>
                </a:solidFill>
                <a:latin typeface="Segoe UI"/>
              </a:rPr>
              <a:t>0–3 MONTHS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9748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Launch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91840"/>
            <a:ext cx="2788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9A9A9A"/>
                </a:solidFill>
                <a:latin typeface="Segoe UI"/>
              </a:rPr>
              <a:t>•  Open beta: GitHub release + Play Store listing.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250" b="0">
                <a:solidFill>
                  <a:srgbClr val="9A9A9A"/>
                </a:solidFill>
                <a:latin typeface="Segoe UI"/>
              </a:rPr>
              <a:t>•  Opt-in, on-device escalation log to tune the router.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250" b="0">
                <a:solidFill>
                  <a:srgbClr val="9A9A9A"/>
                </a:solidFill>
                <a:latin typeface="Segoe UI"/>
              </a:rPr>
              <a:t>•  First Indic-language model tier.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51376" y="3474720"/>
            <a:ext cx="228600" cy="274320"/>
          </a:xfrm>
          <a:prstGeom prst="rightArrow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16552" y="2194560"/>
            <a:ext cx="3291840" cy="283464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23957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C4DFF"/>
                </a:solidFill>
                <a:latin typeface="Segoe UI"/>
              </a:rPr>
              <a:t>3–9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269748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3291840"/>
            <a:ext cx="2788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9A9A9A"/>
                </a:solidFill>
                <a:latin typeface="Segoe UI"/>
              </a:rPr>
              <a:t>•  2–3 pilots with NGOs or health / agri field programs.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250" b="0">
                <a:solidFill>
                  <a:srgbClr val="9A9A9A"/>
                </a:solidFill>
                <a:latin typeface="Segoe UI"/>
              </a:rPr>
              <a:t>•  Custom skill packs per program.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250" b="0">
                <a:solidFill>
                  <a:srgbClr val="9A9A9A"/>
                </a:solidFill>
                <a:latin typeface="Segoe UI"/>
              </a:rPr>
              <a:t>•  Measure answers delivered offline.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44968" y="3474720"/>
            <a:ext cx="228600" cy="274320"/>
          </a:xfrm>
          <a:prstGeom prst="rightArrow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10144" y="2194560"/>
            <a:ext cx="3291840" cy="283464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23957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D93D"/>
                </a:solidFill>
                <a:latin typeface="Segoe UI"/>
              </a:rPr>
              <a:t>9–18 MONTHS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69748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3291840"/>
            <a:ext cx="2788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9A9A9A"/>
                </a:solidFill>
                <a:latin typeface="Segoe UI"/>
              </a:rPr>
              <a:t>•  Organisation licences from pilot results.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250" b="0">
                <a:solidFill>
                  <a:srgbClr val="9A9A9A"/>
                </a:solidFill>
                <a:latin typeface="Segoe UI"/>
              </a:rPr>
              <a:t>•  OEM / telco preload conversations.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250" b="0">
                <a:solidFill>
                  <a:srgbClr val="9A9A9A"/>
                </a:solidFill>
                <a:latin typeface="Segoe UI"/>
              </a:rPr>
              <a:t>•  Document Q&amp;A (on-device RAG) as Pro.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303520"/>
            <a:ext cx="10561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WHAT WE WILL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66928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Offline answers / week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96188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the north-star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566928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Escalation 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596188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how often Tier-2 is needed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566928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Battery per answer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596188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cost to the user's phone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566928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Pilot retention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596188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do field teams keep using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6692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11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561320" cy="127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Same privacy guarantee, more capability.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556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A9A9A"/>
                </a:solidFill>
                <a:latin typeface="Segoe UI"/>
              </a:rPr>
              <a:t>The hard part — offline inference behind an honest router — already ships.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9456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39572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E5A0"/>
                </a:solidFill>
                <a:latin typeface="Segoe UI"/>
              </a:rPr>
              <a:t>Indic languages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779776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9A9A"/>
                </a:solidFill>
                <a:latin typeface="Segoe UI"/>
              </a:rPr>
              <a:t>A multilingual tier so rural users can ask in their own language.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219456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2584" y="239572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7C4DFF"/>
                </a:solidFill>
                <a:latin typeface="Segoe UI"/>
              </a:rPr>
              <a:t>On-device 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4" y="2779776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9A9A"/>
                </a:solidFill>
                <a:latin typeface="Segoe UI"/>
              </a:rPr>
              <a:t>Index notes and documents locally. Grounded answers, zero uploads.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219456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239572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D93D"/>
                </a:solidFill>
                <a:latin typeface="Segoe UI"/>
              </a:rPr>
              <a:t>Learned router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2779776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9A9A"/>
                </a:solidFill>
                <a:latin typeface="Segoe UI"/>
              </a:rPr>
              <a:t>Train the escalation decision on real on-device logs, not keywords.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79476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399592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E5A0"/>
                </a:solidFill>
                <a:latin typeface="Segoe UI"/>
              </a:rPr>
              <a:t>Bigger tiers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379976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9A9A"/>
                </a:solidFill>
                <a:latin typeface="Segoe UI"/>
              </a:rPr>
              <a:t>3B+ quantized models as phones catch up. Same cascade, smarter answers.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379476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72584" y="399592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7C4DFF"/>
                </a:solidFill>
                <a:latin typeface="Segoe UI"/>
              </a:rPr>
              <a:t>More skills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4379976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9A9A"/>
                </a:solidFill>
                <a:latin typeface="Segoe UI"/>
              </a:rPr>
              <a:t>Calendar, files and offline reference packs. Deterministic, unhallucinatable.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10144" y="379476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6175" y="399592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D93D"/>
                </a:solidFill>
                <a:latin typeface="Segoe UI"/>
              </a:rPr>
              <a:t>Play Store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5" y="4379976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9A9A"/>
                </a:solidFill>
                <a:latin typeface="Segoe UI"/>
              </a:rPr>
              <a:t>Ship the release pipeline that already builds the APK today.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0561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A9A9A"/>
                </a:solidFill>
                <a:latin typeface="Segoe UI"/>
              </a:rPr>
              <a:t>Known limits we state openly: English-only today · confidence is self-reported (the plugin exposes no logprobs) · one model in RAM at a time.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6692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12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561320" cy="127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One builder, end to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556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A9A9A"/>
                </a:solidFill>
                <a:latin typeface="Segoe UI"/>
              </a:rPr>
              <a:t>Design, Flutter app, on-device inference, router, tests and this deck — built solo.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148840"/>
            <a:ext cx="2468880" cy="2468880"/>
          </a:xfrm>
          <a:prstGeom prst="ellipse">
            <a:avLst/>
          </a:prstGeom>
          <a:noFill/>
          <a:ln w="25400">
            <a:solidFill>
              <a:srgbClr val="00E5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ar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40280"/>
            <a:ext cx="228600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48006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Charan Sai Ponnada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9A9A9A"/>
                </a:solidFill>
                <a:latin typeface="Segoe UI"/>
              </a:rPr>
              <a:t>Software Engineer (AI), Aynstyn Technologies · B.Tech AI &amp; DS, VRSEC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9788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00E5A0"/>
                </a:solidFill>
                <a:latin typeface="Consolas"/>
              </a:rPr>
              <a:t>github.com/charansaiponnada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>
                <a:solidFill>
                  <a:srgbClr val="00E5A0"/>
                </a:solidFill>
                <a:latin typeface="Consolas"/>
              </a:rPr>
              <a:t>linkedin.com/in/charansaiponnada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219456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87952" y="242316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E5A0"/>
                </a:solidFill>
                <a:latin typeface="Segoe UI"/>
              </a:rPr>
              <a:t>Edge AI, shipped 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7952" y="2834639"/>
            <a:ext cx="31089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9A9A"/>
                </a:solidFill>
                <a:latin typeface="Segoe UI"/>
              </a:rPr>
              <a:t>Primary author, IEEE ISAECT 2025: a fine-tuned vision-language model deployed on a Raspberry Pi to guide visually impaired pedestrians.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219456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28431" y="242316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7C4DFF"/>
                </a:solidFill>
                <a:latin typeface="Segoe UI"/>
              </a:rPr>
              <a:t>Honest LLMs is the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8431" y="2834639"/>
            <a:ext cx="31089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9A9A"/>
                </a:solidFill>
                <a:latin typeface="Segoe UI"/>
              </a:rPr>
              <a:t>Sole-author paper under review at IEEE InCODE 2026: semantic consistency as an unsupervised hallucination signal.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411480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87952" y="434340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D93D"/>
                </a:solidFill>
                <a:latin typeface="Segoe UI"/>
              </a:rPr>
              <a:t>Production LLM reliability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87952" y="4754880"/>
            <a:ext cx="31089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9A9A"/>
                </a:solidFill>
                <a:latin typeface="Segoe UI"/>
              </a:rPr>
              <a:t>At Aynstyn: black-box test suites that made LLM responses reliable across 3+ production workflows.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0" y="411480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28431" y="434340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E5A0"/>
                </a:solidFill>
                <a:latin typeface="Segoe UI"/>
              </a:rPr>
              <a:t>Proven under pressure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754880"/>
            <a:ext cx="31089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9A9A"/>
                </a:solidFill>
                <a:latin typeface="Segoe UI"/>
              </a:rPr>
              <a:t>2nd place among the Top 10 finalists at YUVAAN 2026, IIT Hyderabad — out of 7,600+ registrants.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6172200"/>
            <a:ext cx="7452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66666"/>
                </a:solidFill>
                <a:latin typeface="Segoe UI"/>
              </a:rPr>
              <a:t>Also building a 3D-chromatin-aware genomic foundation model (Hopfield-Mamba) from scratch.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6692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13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561320" cy="127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Private AI on the phone people already own.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9456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E5A0"/>
                </a:solidFill>
                <a:latin typeface="Segoe UI"/>
              </a:rPr>
              <a:t>Pilot partners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9A9A9A"/>
                </a:solidFill>
                <a:latin typeface="Segoe UI"/>
              </a:rPr>
              <a:t>Field programs in low-connectivity regions willing to trial Candor.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219456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242316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7C4DFF"/>
                </a:solidFill>
                <a:latin typeface="Segoe UI"/>
              </a:rPr>
              <a:t>Mentorship &amp; internship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8803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9A9A9A"/>
                </a:solidFill>
                <a:latin typeface="Segoe UI"/>
              </a:rPr>
              <a:t>Help taking Candor from hackathon build to Play Store.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219456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42316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D93D"/>
                </a:solidFill>
                <a:latin typeface="Segoe UI"/>
              </a:rPr>
              <a:t>Your hardest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8803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9A9A9A"/>
                </a:solidFill>
                <a:latin typeface="Segoe UI"/>
              </a:rPr>
              <a:t>Try it in airplane mode — we'll show which model answers.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343400"/>
            <a:ext cx="10561320" cy="1920240"/>
          </a:xfrm>
          <a:prstGeom prst="roundRect">
            <a:avLst>
              <a:gd name="adj" fmla="val 6000"/>
            </a:avLst>
          </a:prstGeom>
          <a:solidFill>
            <a:srgbClr val="041611"/>
          </a:solidFill>
          <a:ln w="12700">
            <a:solidFill>
              <a:srgbClr val="0E4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663440"/>
            <a:ext cx="9875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“An assistant that knows when to hold back — and tells you.”</a:t>
            </a:r>
          </a:p>
          <a:p>
            <a:pPr algn="ctr">
              <a:lnSpc>
                <a:spcPct val="115000"/>
              </a:lnSpc>
              <a:spcBef>
                <a:spcPts val="1000"/>
              </a:spcBef>
            </a:pPr>
            <a:r>
              <a:rPr sz="1800" b="0">
                <a:solidFill>
                  <a:srgbClr val="00E5A0"/>
                </a:solidFill>
                <a:latin typeface="Segoe UI"/>
              </a:rPr>
              <a:t>Thank you.</a:t>
            </a:r>
          </a:p>
          <a:p>
            <a:pPr algn="ctr">
              <a:lnSpc>
                <a:spcPct val="115000"/>
              </a:lnSpc>
              <a:spcBef>
                <a:spcPts val="800"/>
              </a:spcBef>
            </a:pPr>
            <a:r>
              <a:rPr sz="1200" b="0">
                <a:solidFill>
                  <a:srgbClr val="9A9A9A"/>
                </a:solidFill>
                <a:latin typeface="Consolas"/>
              </a:rPr>
              <a:t>github.com/charansaiponnada/candor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APPENDIX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6692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14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561320" cy="127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Where the numbers come from.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10561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48 vs 127 internet subscriptions / 100 (rural vs urban), 1.09B users, Q1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95727"/>
            <a:ext cx="10561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A9A9A"/>
                </a:solidFill>
                <a:latin typeface="Consolas"/>
              </a:rPr>
              <a:t>TRAI data, reported by The Week, 23 Jun 2026 — theweek.in/news/biz-tech/2026/06/23/india-telecom-growth-digital-divide.html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10561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~300 million people (4% of the world) outside mobile broadband coverage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81527"/>
            <a:ext cx="10561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A9A9A"/>
                </a:solidFill>
                <a:latin typeface="Consolas"/>
              </a:rPr>
              <a:t>GSMA, The State of Mobile Internet Connectivity 2025, as quoted by connectivity.technology (Oct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10561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84% of GenAI users concerned their data could go public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67328"/>
            <a:ext cx="10561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A9A9A"/>
                </a:solidFill>
                <a:latin typeface="Consolas"/>
              </a:rPr>
              <a:t>Cisco 2024 Consumer Privacy Survey — newsroom.cisco.com (Oct 2024)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60520"/>
            <a:ext cx="10561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13% GenAI smartphones in India H1 2025 (3% H1 2024)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453128"/>
            <a:ext cx="10561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A9A9A"/>
                </a:solidFill>
                <a:latin typeface="Consolas"/>
              </a:rPr>
              <a:t>Counterpoint Research, reported by Business Standard, Sep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846320"/>
            <a:ext cx="10561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Edge AI $11.8B (2025) → $56.8B (2030), 36.9% CAGR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138928"/>
            <a:ext cx="10561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A9A9A"/>
                </a:solidFill>
                <a:latin typeface="Consolas"/>
              </a:rPr>
              <a:t>BCC Research press release via GlobeNewswire, 2 Oct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532120"/>
            <a:ext cx="10561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Smartphones 80.5% of edge-AI hardware volume (2024)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24728"/>
            <a:ext cx="10561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A9A9A"/>
                </a:solidFill>
                <a:latin typeface="Consolas"/>
              </a:rPr>
              <a:t>MarketsandMarkets, Edge AI Hardware Market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