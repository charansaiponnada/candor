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90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_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600" b="1">
                <a:solidFill>
                  <a:srgbClr val="FFFFFF"/>
                </a:solidFill>
                <a:latin typeface="Segoe UI"/>
              </a:rPr>
              <a:t>CANDOR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0E5A0"/>
                </a:solidFill>
                <a:latin typeface="Segoe UI"/>
              </a:rPr>
              <a:t>The assistant that tells you when it's holding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A privacy-first AI assistant that runs two quantized small language models entirely on your phone. No server, no subscription, no network permission.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 b="1">
                <a:solidFill>
                  <a:srgbClr val="00E5A0"/>
                </a:solidFill>
                <a:latin typeface="Segoe UI"/>
              </a:rPr>
              <a:t>100% on-device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5577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 b="1">
                <a:solidFill>
                  <a:srgbClr val="00E5A0"/>
                </a:solidFill>
                <a:latin typeface="Segoe UI"/>
              </a:rPr>
              <a:t>0 network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5577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 b="1">
                <a:solidFill>
                  <a:srgbClr val="7C4DFF"/>
                </a:solidFill>
                <a:latin typeface="Segoe UI"/>
              </a:rPr>
              <a:t>133/133 tests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55778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100" b="1">
                <a:solidFill>
                  <a:srgbClr val="FFD93D"/>
                </a:solidFill>
                <a:latin typeface="Segoe UI"/>
              </a:rPr>
              <a:t>Runs on a mid-range 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6666"/>
                </a:solidFill>
                <a:latin typeface="Consolas"/>
              </a:rPr>
              <a:t>LUMINIX'26 Grand Finale   ·   Charan Sai Ponnada   ·   github.com/charansaiponnada/candor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Cloud AI disappears exactly when you need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Villages, tunnels, flights, outages, an empty data pack — and the assistant is gone.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5074920" cy="3749039"/>
          </a:xfrm>
          <a:prstGeom prst="roundRect">
            <a:avLst>
              <a:gd name="adj" fmla="val 6000"/>
            </a:avLst>
          </a:prstGeom>
          <a:solidFill>
            <a:srgbClr val="140B0B"/>
          </a:solidFill>
          <a:ln w="12700">
            <a:solidFill>
              <a:srgbClr val="3A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9572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6B6B"/>
                </a:solidFill>
                <a:latin typeface="Segoe UI"/>
              </a:rPr>
              <a:t>TODAY — RENTED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No network, no assistant.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Every answer is a round-trip to someone else's datacentre.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Your words leave the device.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Prompts travel, get logged, get retained.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Premium phones first.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Built-in on-device AI ships mostly on expensive flagships.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Metered and rate-limited.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Stop paying and the intelligence switches off.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53328" y="3794760"/>
            <a:ext cx="502920" cy="457200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4983480" cy="3749039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3957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CANDOR — OWNED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3891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Two models ride in the APK.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Qwen2.5 0.5B + 1.5B, 4-bit quantized, run by llama.cpp.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Incapable of phoning home.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The release manifest declares no INTERNET permission.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Runs on the phone you own.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Proven on a mid-range Samsung Galaxy, CPU only.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Honest about its own limits.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Every reply names the model that answered, and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00E5A0"/>
                </a:solidFill>
                <a:latin typeface="Segoe UI"/>
              </a:rPr>
              <a:t>Airplane mode is the demo: chat, calculators, converters, notes, timers and drafts all still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A billion Indians online — not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The people who most need a helpful assistant are the ones cloud AI serves worst.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dirty="0">
                <a:solidFill>
                  <a:srgbClr val="FFD93D"/>
                </a:solidFill>
                <a:latin typeface="Segoe UI"/>
              </a:rPr>
              <a:t>48 vs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089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internet subscriptions per 100 people, rural vs urban India (Q1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33172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6B6B"/>
                </a:solidFill>
                <a:latin typeface="Segoe UI"/>
              </a:rPr>
              <a:t>300M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1089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people worldwide still live outside any mobile broadband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33172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7C4DFF"/>
                </a:solidFill>
                <a:latin typeface="Segoe UI"/>
              </a:rPr>
              <a:t>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of GenAI users worry the data they enter could go public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4884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6568" y="233172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0E5A0"/>
                </a:solidFill>
                <a:latin typeface="Segoe UI"/>
              </a:rPr>
              <a:t>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310896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of phones shipped in India in H1 2025 had built-in GenAI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052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365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$11.8B → $56.8B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9A9A"/>
                </a:solidFill>
                <a:latin typeface="Segoe UI"/>
              </a:rPr>
              <a:t>Global edge-AI market, 2025 → 2030 (36.9% CAGR).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Smartphones are 80.5% of edge-AI hardware by volume.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3708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OUR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36592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87% of new phones in India ship without built-in GenAI.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Candor doesn't wait for a flagship or a signal: a 4-bit model cascade gives any mid-range Android a private, offline assistant today.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92240"/>
            <a:ext cx="10561320" cy="145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 dirty="0">
                <a:solidFill>
                  <a:srgbClr val="666666"/>
                </a:solidFill>
                <a:latin typeface="Segoe UI"/>
              </a:rPr>
              <a:t>Sources: TRAI via The Week (2026) · GSMA SOMIC 2025 · Cisco Privacy Survey 2024 · Counterpoint (H1 2025) · BCC Research (2025) · </a:t>
            </a:r>
            <a:r>
              <a:rPr sz="900" b="0" i="1" dirty="0" err="1">
                <a:solidFill>
                  <a:srgbClr val="666666"/>
                </a:solidFill>
                <a:latin typeface="Segoe UI"/>
              </a:rPr>
              <a:t>MarketsandMarkets</a:t>
            </a:r>
            <a:r>
              <a:rPr sz="900" b="0" i="1" dirty="0">
                <a:solidFill>
                  <a:srgbClr val="666666"/>
                </a:solidFill>
                <a:latin typeface="Segoe UI"/>
              </a:rPr>
              <a:t> — full list on the last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Built for where the network doesn't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Each segment has the same two needs: it must work offline, and the data must stay 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4231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Frontline field 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52928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Health, agri-extension and survey staff in low-signal villages: notes, unit maths and quick reference with zero uploads.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4231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Students off 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852928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A patient explainer that works without a data pack, on the family's shared mid-range 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24231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Travel, defence &amp; disaster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852928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Flights, remote postings and outages — exactly when networks are down or not permitted.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4348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Privacy-bound professionals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864607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Doctors, lawyers, journalists: drafts and questions that must never touch a third-party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20624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2584" y="44348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Locked-down enterprises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4864607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Field sales and ops fleets where IT policy forbids sending data to cloud AI.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20624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44348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Everyday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864607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Anyone tired of subscriptions, rate limits and wondering where their prompts end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38" y="8238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One honest router, two tiers, zero packets.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Every query is answered at the cheapest tier that can hold it — and labelled with which one did.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691640" cy="10515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346704"/>
            <a:ext cx="1472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USER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57600"/>
            <a:ext cx="147218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typed or spoken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(on-device STT)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3602736"/>
            <a:ext cx="320040" cy="256032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17520" y="3063240"/>
            <a:ext cx="1828800" cy="132588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320954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INTENT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520440"/>
            <a:ext cx="1609344" cy="795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regex classifier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skill / action /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2402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2386584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SKILLS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697480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calculator · units · dates · notes · dice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2918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58968" y="3438144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D93D"/>
                </a:solidFill>
                <a:latin typeface="Segoe UI"/>
              </a:rPr>
              <a:t>PLATFORM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749039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timer · apps · SMS · email ·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434340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58968" y="4489704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4800600"/>
            <a:ext cx="206654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multi-step question?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Tier-1 unsure / refusing?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83480" y="2578608"/>
            <a:ext cx="274320" cy="237744"/>
          </a:xfrm>
          <a:prstGeom prst="rightArrow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983480" y="3630168"/>
            <a:ext cx="274320" cy="237744"/>
          </a:xfrm>
          <a:prstGeom prst="rightArrow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4983480" y="4727448"/>
            <a:ext cx="274320" cy="237744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38160" y="3977639"/>
            <a:ext cx="173736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4123944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E5A0"/>
                </a:solidFill>
                <a:latin typeface="Segoe UI"/>
              </a:rPr>
              <a:t>TIER-1 · 0.5B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434840"/>
            <a:ext cx="1517904" cy="12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fast default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self-scored answer</a:t>
            </a:r>
          </a:p>
          <a:p>
            <a:pPr algn="ctr">
              <a:lnSpc>
                <a:spcPct val="110000"/>
              </a:lnSpc>
            </a:pPr>
            <a:endParaRPr sz="1100" b="0">
              <a:solidFill>
                <a:srgbClr val="9A9A9A"/>
              </a:solidFill>
              <a:latin typeface="Segoe UI"/>
            </a:endParaRP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skipped for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multi-step asks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26679" y="4727448"/>
            <a:ext cx="320040" cy="237744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32720" y="3977639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42448" y="4123944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7C4DFF"/>
                </a:solidFill>
                <a:latin typeface="Segoe UI"/>
              </a:rPr>
              <a:t>TIER-2 · 1.5B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2448" y="4434840"/>
            <a:ext cx="12435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deeper answer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20" y="493776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42448" y="5084064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6B6B"/>
                </a:solidFill>
                <a:latin typeface="Segoe UI"/>
              </a:rPr>
              <a:t>CONSTRAINED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5394960"/>
            <a:ext cx="12435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9A9A9A"/>
                </a:solidFill>
                <a:latin typeface="Segoe UI"/>
              </a:rPr>
              <a:t>Tier-1 + reason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66960" y="4251960"/>
            <a:ext cx="274320" cy="237744"/>
          </a:xfrm>
          <a:prstGeom prst="right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/>
          <p:cNvSpPr/>
          <p:nvPr/>
        </p:nvSpPr>
        <p:spPr>
          <a:xfrm>
            <a:off x="9966960" y="5212080"/>
            <a:ext cx="274320" cy="237744"/>
          </a:xfrm>
          <a:prstGeom prst="rightArrow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63840" y="5989320"/>
            <a:ext cx="2286000" cy="566928"/>
          </a:xfrm>
          <a:prstGeom prst="roundRect">
            <a:avLst>
              <a:gd name="adj" fmla="val 6000"/>
            </a:avLst>
          </a:prstGeom>
          <a:solidFill>
            <a:srgbClr val="101018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36992" y="6071616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C4DFF"/>
                </a:solidFill>
                <a:latin typeface="Segoe UI"/>
              </a:rPr>
              <a:t>DEVICE GATE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9A9A9A"/>
                </a:solidFill>
                <a:latin typeface="Segoe UI"/>
              </a:rPr>
              <a:t>battery ≥ 20%  ·  thermal &lt; MODERATE</a:t>
            </a:r>
          </a:p>
        </p:txBody>
      </p:sp>
      <p:sp>
        <p:nvSpPr>
          <p:cNvPr id="41" name="Up Arrow 40"/>
          <p:cNvSpPr/>
          <p:nvPr/>
        </p:nvSpPr>
        <p:spPr>
          <a:xfrm>
            <a:off x="8887968" y="5742432"/>
            <a:ext cx="237744" cy="228600"/>
          </a:xfrm>
          <a:prstGeom prst="up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2960" y="4754880"/>
            <a:ext cx="4023360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1005840" y="4937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A0"/>
                </a:solidFill>
                <a:latin typeface="Segoe UI"/>
              </a:rPr>
              <a:t>THE OUTPUT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2852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● Tier-2 · 1.5B answering · 12s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6928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The chat shows which model is working, live. Comparisons, step-by-step and code go straight to Tier-2 — no wasted 0.5B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Real screens, captured on the phone.</a:t>
            </a:r>
          </a:p>
        </p:txBody>
      </p:sp>
      <p:pic>
        <p:nvPicPr>
          <p:cNvPr id="7" name="Picture 6" descr="chat_ti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189913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263640"/>
            <a:ext cx="27220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Tier-1 answer with its honesty pill</a:t>
            </a:r>
          </a:p>
        </p:txBody>
      </p:sp>
      <p:pic>
        <p:nvPicPr>
          <p:cNvPr id="9" name="Picture 8" descr="chat_tier2_strea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353" y="2011680"/>
            <a:ext cx="1899138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8873" y="6263640"/>
            <a:ext cx="27220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Escalated to Tier-2, streaming live</a:t>
            </a:r>
          </a:p>
        </p:txBody>
      </p:sp>
      <p:pic>
        <p:nvPicPr>
          <p:cNvPr id="11" name="Picture 10" descr="tier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47" y="2011680"/>
            <a:ext cx="1899138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6267" y="6263640"/>
            <a:ext cx="27220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Tap the pill: why this model answered</a:t>
            </a:r>
          </a:p>
        </p:txBody>
      </p:sp>
      <p:pic>
        <p:nvPicPr>
          <p:cNvPr id="13" name="Picture 12" descr="ski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141" y="2011680"/>
            <a:ext cx="1899138" cy="411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73661" y="6263640"/>
            <a:ext cx="27220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Deterministic skills, zero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Proven,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Everything below is measurable on a mid-range handset in airplane mode,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0E5A0"/>
                </a:solidFill>
                <a:latin typeface="Segoe UI"/>
              </a:rPr>
              <a:t>133/133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063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automated tests pass
router · skills · stores ·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331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0E5A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063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INTERNET permissions
in the release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331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7C4DFF"/>
                </a:solidFill>
                <a:latin typeface="Segoe UI"/>
              </a:rPr>
              <a:t>~1.5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two 4-bit models in the APK
0.5B + 1.5B, Q4_K_M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4884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6568" y="2331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D93D"/>
                </a:solidFill>
                <a:latin typeface="Segoe U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3063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offline capability
no feature needs a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IN THE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CCCCC"/>
                </a:solidFill>
                <a:latin typeface="Segoe UI"/>
              </a:rPr>
              <a:t>Models &amp; Benchmarks — live load time, tokens/sec and size per bundled model, measured on this phone.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Prompt Lab — per-tier temperature, top-k/top-p and penalty sliders with a live sandbox.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Debug panel — real battery and thermal readout, plus a simulated constrained device.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50" b="0">
                <a:solidFill>
                  <a:srgbClr val="CCCCCC"/>
                </a:solidFill>
                <a:latin typeface="Segoe UI"/>
              </a:rPr>
              <a:t>Voice input, chat history, per-tier model pickers, Vulkan GPU toggle.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Flutter / Dart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5262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single codebase, custom glass widget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286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llama.cpp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92861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via the llama_flutter_android plugin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30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Qwen2.5 Q4_K_M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3309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0.5B Tier-1 + 1.5B Tier-2, in the APK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332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Kotlin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73328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battery, thermal, model-file prep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13562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Vulkan offload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13562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optional GPU acceleration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Offline, private, affordable — pick all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9A9A9A"/>
                </a:solidFill>
                <a:latin typeface="Segoe UI"/>
              </a:rPr>
              <a:t>Works fully
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2392" y="2103120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9A9A9A"/>
                </a:solidFill>
                <a:latin typeface="Segoe UI"/>
              </a:rPr>
              <a:t>Data stays
on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2864" y="2103120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9A9A9A"/>
                </a:solidFill>
                <a:latin typeface="Segoe UI"/>
              </a:rPr>
              <a:t>Runs on mid-
range phones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9A9A9A"/>
                </a:solidFill>
                <a:latin typeface="Segoe UI"/>
              </a:rPr>
              <a:t>Says which model
answered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808" y="2103120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9A9A9A"/>
                </a:solidFill>
                <a:latin typeface="Segoe UI"/>
              </a:rPr>
              <a:t>Exact skills &amp;
phone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0561320" cy="768096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1693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Cloud 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ChatGPT, Gemini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98648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898648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2898648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898648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898648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D93D"/>
                </a:solidFill>
                <a:latin typeface="Segoe UI"/>
              </a:rPr>
              <a:t>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85031"/>
            <a:ext cx="10561320" cy="768096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813047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Built-in phone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239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Galaxy AI, Gemini Nano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94759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D93D"/>
                </a:solidFill>
                <a:latin typeface="Segoe UI"/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3794759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D93D"/>
                </a:solidFill>
                <a:latin typeface="Segoe UI"/>
              </a:rPr>
              <a:t>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2864" y="3794759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794759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3794759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81144"/>
            <a:ext cx="10561320" cy="768096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70915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Local LLM apps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200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AI Edge Gallery, PocketPal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90872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4690872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690872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D93D"/>
                </a:solidFill>
                <a:latin typeface="Segoe UI"/>
              </a:rPr>
              <a:t>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4690872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666666"/>
                </a:solidFill>
                <a:latin typeface="Segoe UI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4690872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D93D"/>
                </a:solidFill>
                <a:latin typeface="Segoe UI"/>
              </a:rPr>
              <a:t>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477256"/>
            <a:ext cx="10561320" cy="768096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6052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Candor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916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Segoe UI"/>
              </a:rPr>
              <a:t>this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586984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5586984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5586984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5586984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8" y="5586984"/>
            <a:ext cx="1490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00E5A0"/>
                </a:solidFill>
                <a:latin typeface="Segoe U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492240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Segoe UI"/>
              </a:rPr>
              <a:t>● yes   ◐ partial / device- or feature-dependent   ○ no.   Based on public product documentation, Sep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Three ways to earn — and almost no cost to 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Proposed model. Inference runs on the user's own phone, so there is no per-query GPU bill.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A0"/>
                </a:solidFill>
                <a:latin typeface="Segoe UI"/>
              </a:rPr>
              <a:t>CONSUMERS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Free + one-time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27889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•  Free: the full offline assistant, both tiers, every skill.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Pro (one-time, ~₹149 proposed): extra model packs, document Q&amp;A, custom skills.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No subscription — nothing to meter.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9456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4DFF"/>
                </a:solidFill>
                <a:latin typeface="Segoe UI"/>
              </a:rPr>
              <a:t>ORGANISATIONS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Offline-AI licence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246120"/>
            <a:ext cx="27889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•  NGOs, health &amp; agri programs, field fleets, defence.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Per-device annual licence: private deployment, custom skill packs, MDM-ready builds.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Priced per seat, not per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194560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93D"/>
                </a:solidFill>
                <a:latin typeface="Segoe UI"/>
              </a:rPr>
              <a:t>OEMs &amp; TELCOS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Preload royalty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246120"/>
            <a:ext cx="27889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•  Budget-phone makers ship an AI assistant with no cloud contract.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Small per-unit royalty; differentiates sub-premium devices.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9A9A9A"/>
                </a:solidFill>
                <a:latin typeface="Segoe UI"/>
              </a:rPr>
              <a:t>•  Distribution at the scale of shipments.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8640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66928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Unit economics: a cloud assistant pays for every token it generates. Candor's marginal cost per answer is ≈ ₹0 — the phone already paid for the compute.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Start where the network 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Plan: land with mission-driven field programs, prove it, then scale through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291840" cy="2834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A0"/>
                </a:solidFill>
                <a:latin typeface="Segoe UI"/>
              </a:rPr>
              <a:t>0–3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788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9A9A"/>
                </a:solidFill>
                <a:latin typeface="Segoe UI"/>
              </a:rPr>
              <a:t>•  Open beta: GitHub release + Play Store listing.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Opt-in, on-device escalation log to tune the router.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First Indic-language model tier.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51376" y="3474720"/>
            <a:ext cx="228600" cy="274320"/>
          </a:xfrm>
          <a:prstGeom prst="rightArrow">
            <a:avLst/>
          </a:prstGeom>
          <a:solidFill>
            <a:srgbClr val="00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16552" y="2194560"/>
            <a:ext cx="3291840" cy="2834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4DFF"/>
                </a:solidFill>
                <a:latin typeface="Segoe UI"/>
              </a:rPr>
              <a:t>3–9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91840"/>
            <a:ext cx="2788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9A9A"/>
                </a:solidFill>
                <a:latin typeface="Segoe UI"/>
              </a:rPr>
              <a:t>•  2–3 pilots with NGOs or health / agri field programs.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Custom skill packs per program.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Measure answers delivered offline.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44968" y="3474720"/>
            <a:ext cx="228600" cy="274320"/>
          </a:xfrm>
          <a:prstGeom prst="rightArrow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10144" y="2194560"/>
            <a:ext cx="3291840" cy="2834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23957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93D"/>
                </a:solidFill>
                <a:latin typeface="Segoe UI"/>
              </a:rPr>
              <a:t>9–18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97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291840"/>
            <a:ext cx="2788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9A9A"/>
                </a:solidFill>
                <a:latin typeface="Segoe UI"/>
              </a:rPr>
              <a:t>•  Organisation licences from pilot results.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OEM / telco preload conversations.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9A9A9A"/>
                </a:solidFill>
                <a:latin typeface="Segoe UI"/>
              </a:rPr>
              <a:t>•  Document Q&amp;A (on-device RAG) as Pro.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WHAT WE WILL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Offline answers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61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the north-star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Escalation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961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how often Tier-2 is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Battery per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961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cost to the user's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Pilot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961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do field teams keep using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Same privacy guarantee, more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The hard part — offline inference behind an honest router — already 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Indic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797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A multilingual tier so rural users can ask in their own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94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3957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On-device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7797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Index notes and documents locally. Grounded answers, zero uploads.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945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23957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Learned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7797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Train the escalation decision on real on-device logs, not keywords.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9959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Bigger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3799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3B+ quantized models as phones catch up. Same cascade, smarter answers.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7947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2584" y="39959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More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43799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Calendar, files and offline reference packs. Deterministic, unhallucinatable.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7947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39959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Play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379976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Ship the release pipeline that already builds the APK today.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61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Known limits we state openly: English-only today · confidence is self-reported (the plugin exposes no logprobs) · one model in RAM at a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One builder,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9A9A"/>
                </a:solidFill>
                <a:latin typeface="Segoe UI"/>
              </a:rPr>
              <a:t>Design, Flutter app, on-device inference, router, tests and this deck — built solo.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148840"/>
            <a:ext cx="2468880" cy="2468880"/>
          </a:xfrm>
          <a:prstGeom prst="ellipse">
            <a:avLst/>
          </a:prstGeom>
          <a:noFill/>
          <a:ln w="25400">
            <a:solidFill>
              <a:srgbClr val="00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800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Charan Sai Ponnada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9A9A"/>
                </a:solidFill>
                <a:latin typeface="Segoe UI"/>
              </a:rPr>
              <a:t>Software Engineer (AI), Aynstyn Technologies · B.Tech AI &amp; DS, VRSEC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0E5A0"/>
                </a:solidFill>
                <a:latin typeface="Consolas"/>
              </a:rPr>
              <a:t>github.com/charansaiponnada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>
                <a:solidFill>
                  <a:srgbClr val="00E5A0"/>
                </a:solidFill>
                <a:latin typeface="Consolas"/>
              </a:rPr>
              <a:t>linkedin.com/in/charansaiponnada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1945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87952" y="24231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Edge AI, shipped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834639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Primary author, IEEE ISAECT 2025: a fine-tuned vision-language model deployed on a Raspberry Pi to guide visually impaired pedestrians.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945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431" y="24231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4DFF"/>
                </a:solidFill>
                <a:latin typeface="Segoe UI"/>
              </a:rPr>
              <a:t>Honest LLMs is the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2834639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Sole-author paper under review at IEEE InCODE 2026: semantic consistency as an unsupervised hallucination signal.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41148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87952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93D"/>
                </a:solidFill>
                <a:latin typeface="Segoe UI"/>
              </a:rPr>
              <a:t>Production LLM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475488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At Aynstyn: black-box test suites that made LLM responses reliable across 3+ production workflows.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1148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E5A0"/>
                </a:solidFill>
                <a:latin typeface="Segoe UI"/>
              </a:rPr>
              <a:t>Proven under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75488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9A9A"/>
                </a:solidFill>
                <a:latin typeface="Segoe UI"/>
              </a:rPr>
              <a:t>2nd place among the Top 10 finalists at YUVAAN 2026, IIT Hyderabad — out of 7,600+ registrants.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6172200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6666"/>
                </a:solidFill>
                <a:latin typeface="Segoe UI"/>
              </a:rPr>
              <a:t>Also building a 3D-chromatin-aware genomic foundation model (Hopfield-Mamba) from scratch.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Private AI on the phone people already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E5A0"/>
                </a:solidFill>
                <a:latin typeface="Segoe UI"/>
              </a:rPr>
              <a:t>Pilot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Field programs in low-connectivity regions willing to trial Candor.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945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423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7C4DFF"/>
                </a:solidFill>
                <a:latin typeface="Segoe UI"/>
              </a:rPr>
              <a:t>Mentorship &amp;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803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Help taking Candor from hackathon build to Play Store.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1945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2423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D93D"/>
                </a:solidFill>
                <a:latin typeface="Segoe UI"/>
              </a:rPr>
              <a:t>Your hardest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8803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A9A"/>
                </a:solidFill>
                <a:latin typeface="Segoe UI"/>
              </a:rPr>
              <a:t>Try it in airplane mode — we'll show which model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10561320" cy="1920240"/>
          </a:xfrm>
          <a:prstGeom prst="roundRect">
            <a:avLst>
              <a:gd name="adj" fmla="val 6000"/>
            </a:avLst>
          </a:prstGeom>
          <a:solidFill>
            <a:srgbClr val="041611"/>
          </a:solidFill>
          <a:ln w="12700">
            <a:solidFill>
              <a:srgbClr val="0E4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9875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“An assistant that knows when to hold back — and tells you.”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800" b="0">
                <a:solidFill>
                  <a:srgbClr val="00E5A0"/>
                </a:solidFill>
                <a:latin typeface="Segoe UI"/>
              </a:rPr>
              <a:t>Thank you.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9A9A9A"/>
                </a:solidFill>
                <a:latin typeface="Consolas"/>
              </a:rPr>
              <a:t>github.com/charansaiponnada/candor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A0"/>
                </a:solidFill>
                <a:latin typeface="Segoe UI"/>
              </a:rPr>
              <a:t>APPENDIX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669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9A9A"/>
                </a:solidFill>
                <a:latin typeface="Segoe UI"/>
              </a:rPr>
              <a:t>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5613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Where the numbers come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48 vs 127 internet subscriptions / 100 (rural vs urban), 1.09B users, Q1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7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TRAI data, reported by The Week, 23 Jun 2026 — theweek.in/news/biz-tech/2026/06/23/india-telecom-growth-digital-divide.html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~300 million people (4% of the world) outside mobile broadband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7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GSMA, The State of Mobile Internet Connectivity 2025, as quoted by connectivity.technology (Oct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84% of GenAI users concerned their data could go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Cisco 2024 Consumer Privacy Survey — newsroom.cisco.com (Oct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13% GenAI smartphones in India H1 2025 (3% H1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Counterpoint Research, reported by Business Standard, Sep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Edge AI $11.8B (2025) → $56.8B (2030), 36.9%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BCC Research press release via GlobeNewswire, 2 Oct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Smartphones 80.5% of edge-AI hardware volume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2472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9A9A"/>
                </a:solidFill>
                <a:latin typeface="Consolas"/>
              </a:rPr>
              <a:t>MarketsandMarkets, Edge AI Hardware Market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1986</Words>
  <Application>Microsoft Office PowerPoint</Application>
  <PresentationFormat>Widescreen</PresentationFormat>
  <Paragraphs>280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Charan Sai Ponnada</cp:lastModifiedBy>
  <cp:revision>2</cp:revision>
  <dcterms:created xsi:type="dcterms:W3CDTF">2013-01-27T09:14:16Z</dcterms:created>
  <dcterms:modified xsi:type="dcterms:W3CDTF">2026-09-15T12:00:15Z</dcterms:modified>
  <cp:category/>
</cp:coreProperties>
</file>