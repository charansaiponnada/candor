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w_app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88720"/>
            <a:ext cx="1463040" cy="1463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880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7600" b="1">
                <a:solidFill>
                  <a:srgbClr val="FFFFFF"/>
                </a:solidFill>
                <a:latin typeface="Segoe UI"/>
              </a:rPr>
              <a:t>CANDOR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00E5A0"/>
                </a:solidFill>
                <a:latin typeface="Segoe UI"/>
              </a:rPr>
              <a:t>The assistant that tells you when it's holding back.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8686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A two-tier small-language-model cascade that runs entirely on your phone. No server, no subscription, no network permission.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57784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B1B1B"/>
          </a:solidFill>
          <a:ln w="127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100" b="1">
                <a:solidFill>
                  <a:srgbClr val="00E5A0"/>
                </a:solidFill>
                <a:latin typeface="Segoe UI"/>
              </a:rPr>
              <a:t>100% on-device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557784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B1B1B"/>
          </a:solidFill>
          <a:ln w="127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100" b="1">
                <a:solidFill>
                  <a:srgbClr val="00E5A0"/>
                </a:solidFill>
                <a:latin typeface="Segoe UI"/>
              </a:rPr>
              <a:t>0 network calls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557784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B1B1B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100" b="1">
                <a:solidFill>
                  <a:srgbClr val="7C4DFF"/>
                </a:solidFill>
                <a:latin typeface="Segoe UI"/>
              </a:rPr>
              <a:t>109/109 tests pass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5577840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B1B1B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100" b="1">
                <a:solidFill>
                  <a:srgbClr val="FFD93D"/>
                </a:solidFill>
                <a:latin typeface="Segoe UI"/>
              </a:rPr>
              <a:t>Android · Flutter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66666"/>
                </a:solidFill>
                <a:latin typeface="Consolas"/>
              </a:rPr>
              <a:t>Hackathon 2026   ·   github.com/charansaiponnada/candor   ·   release v0.1.0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2 / 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Cloud AI disappears exactly when you need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Tunnels, flights, rural coverage, outages, dead plans — the assistant is gone.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5074920" cy="3749039"/>
          </a:xfrm>
          <a:prstGeom prst="roundRect">
            <a:avLst>
              <a:gd name="adj" fmla="val 6000"/>
            </a:avLst>
          </a:prstGeom>
          <a:solidFill>
            <a:srgbClr val="140B0B"/>
          </a:solidFill>
          <a:ln w="12700">
            <a:solidFill>
              <a:srgbClr val="3A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6B6B"/>
                </a:solidFill>
                <a:latin typeface="Segoe UI"/>
              </a:rPr>
              <a:t>TODAY — RENTED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No network, no assistant.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Every answer is a round-trip to someone else's datacentre.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Your words leave the device.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Prompts travel, get logged, get retained.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Latency you can feel.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Seconds of round-trip on every single turn.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Metered and rate-limited.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Stop paying and the intelligence switches off.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053328" y="3794760"/>
            <a:ext cx="502920" cy="457200"/>
          </a:xfrm>
          <a:prstGeom prst="rightArrow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2148840"/>
            <a:ext cx="4983480" cy="3749039"/>
          </a:xfrm>
          <a:prstGeom prst="roundRect">
            <a:avLst>
              <a:gd name="adj" fmla="val 6000"/>
            </a:avLst>
          </a:prstGeom>
          <a:solidFill>
            <a:srgbClr val="041611"/>
          </a:solidFill>
          <a:ln w="12700">
            <a:solidFill>
              <a:srgbClr val="0E4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39572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CANDOR — OWNED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880360"/>
            <a:ext cx="43891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Two models ride in the APK.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Qwen2.5 0.5B + 1.5B, Q4_K_M, run by llama.cpp on the phone.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Incapable of phoning home.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The release manifest declares no INTERNET permission.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Deterministic skills, zero tokens.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Math, units and dates answered exactly, not guessed.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00" b="1">
                <a:solidFill>
                  <a:srgbClr val="FFFFFF"/>
                </a:solidFill>
                <a:latin typeface="Segoe UI"/>
              </a:rPr>
              <a:t>Honest about its own limits.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9A9A"/>
                </a:solidFill>
                <a:latin typeface="Segoe UI"/>
              </a:rPr>
              <a:t>Every reply names the tier, the confidence, the time.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61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00E5A0"/>
                </a:solidFill>
                <a:latin typeface="Segoe UI"/>
              </a:rPr>
              <a:t>Airplane mode is the demo: chat, calculators, converters, memos, timers and drafts all still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3 / 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One honest router, two tiers, zero packets.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Every query is answered at the cheapest tier that can hold it — and labelled with which one did.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200400"/>
            <a:ext cx="1691640" cy="105156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3346704"/>
            <a:ext cx="14721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E5A0"/>
                </a:solidFill>
                <a:latin typeface="Segoe UI"/>
              </a:rPr>
              <a:t>USER 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657600"/>
            <a:ext cx="1472184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typed or spoken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(on-device STT)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06040" y="3602736"/>
            <a:ext cx="320040" cy="256032"/>
          </a:xfrm>
          <a:prstGeom prst="rightArrow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0" y="3063240"/>
            <a:ext cx="1828800" cy="132588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27248" y="3209544"/>
            <a:ext cx="16093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D93D"/>
                </a:solidFill>
                <a:latin typeface="Segoe UI"/>
              </a:rPr>
              <a:t>INTENT 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7248" y="3520440"/>
            <a:ext cx="1609344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regex classifier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skill / action /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224028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8968" y="2386584"/>
            <a:ext cx="2066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D93D"/>
                </a:solidFill>
                <a:latin typeface="Segoe UI"/>
              </a:rPr>
              <a:t>SKILLS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58968" y="2697480"/>
            <a:ext cx="206654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9A9A9A"/>
                </a:solidFill>
                <a:latin typeface="Segoe UI"/>
              </a:rPr>
              <a:t>calculator · units · dates · memo · dice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32918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FFD9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3438144"/>
            <a:ext cx="2066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D93D"/>
                </a:solidFill>
                <a:latin typeface="Segoe UI"/>
              </a:rPr>
              <a:t>PLATFORM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3749039"/>
            <a:ext cx="206654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9A9A9A"/>
                </a:solidFill>
                <a:latin typeface="Segoe UI"/>
              </a:rPr>
              <a:t>timer · app · SMS · email · settings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9240" y="4343400"/>
            <a:ext cx="2286000" cy="10058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58968" y="4489704"/>
            <a:ext cx="20665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E5A0"/>
                </a:solidFill>
                <a:latin typeface="Segoe UI"/>
              </a:rPr>
              <a:t>TIER-1  ·  0.5B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8968" y="4800600"/>
            <a:ext cx="206654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Qwen2.5 Q4_K_M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answers by default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983480" y="2578608"/>
            <a:ext cx="274320" cy="237744"/>
          </a:xfrm>
          <a:prstGeom prst="rightArrow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4983480" y="3630168"/>
            <a:ext cx="274320" cy="237744"/>
          </a:xfrm>
          <a:prstGeom prst="rightArrow">
            <a:avLst/>
          </a:prstGeom>
          <a:solidFill>
            <a:srgbClr val="FFD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4983480" y="4727448"/>
            <a:ext cx="274320" cy="237744"/>
          </a:xfrm>
          <a:prstGeom prst="rightArrow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38160" y="4343400"/>
            <a:ext cx="1737360" cy="10058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00E5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47888" y="4489704"/>
            <a:ext cx="15179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0E5A0"/>
                </a:solidFill>
                <a:latin typeface="Segoe UI"/>
              </a:rPr>
              <a:t>ROUTER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4800600"/>
            <a:ext cx="151790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conf &lt; 0.7 ?</a:t>
            </a:r>
          </a:p>
          <a:p>
            <a:pPr algn="ctr">
              <a:lnSpc>
                <a:spcPct val="11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empty / refusal ?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726679" y="4727448"/>
            <a:ext cx="320040" cy="237744"/>
          </a:xfrm>
          <a:prstGeom prst="rightArrow">
            <a:avLst/>
          </a:prstGeom>
          <a:solidFill>
            <a:srgbClr val="00E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332720" y="333756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42448" y="348386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7C4DFF"/>
                </a:solidFill>
                <a:latin typeface="Segoe UI"/>
              </a:rPr>
              <a:t>TIER-2 · 1.5B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2448" y="3794760"/>
            <a:ext cx="1243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9A9A9A"/>
                </a:solidFill>
                <a:latin typeface="Segoe UI"/>
              </a:rPr>
              <a:t>escalated</a:t>
            </a:r>
          </a:p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9A9A9A"/>
                </a:solidFill>
                <a:latin typeface="Segoe UI"/>
              </a:rPr>
              <a:t>answer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332720" y="4663440"/>
            <a:ext cx="1463040" cy="9144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42448" y="4809744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6B6B"/>
                </a:solidFill>
                <a:latin typeface="Segoe UI"/>
              </a:rPr>
              <a:t>CONSTRAINED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42448" y="5120640"/>
            <a:ext cx="12435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9A9A9A"/>
                </a:solidFill>
                <a:latin typeface="Segoe UI"/>
              </a:rPr>
              <a:t>Tier-1 kept</a:t>
            </a:r>
          </a:p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9A9A9A"/>
                </a:solidFill>
                <a:latin typeface="Segoe UI"/>
              </a:rPr>
              <a:t>+ reason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966960" y="3675887"/>
            <a:ext cx="274320" cy="237744"/>
          </a:xfrm>
          <a:prstGeom prst="rightArrow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ight Arrow 37"/>
          <p:cNvSpPr/>
          <p:nvPr/>
        </p:nvSpPr>
        <p:spPr>
          <a:xfrm>
            <a:off x="9966960" y="5001768"/>
            <a:ext cx="274320" cy="237744"/>
          </a:xfrm>
          <a:prstGeom prst="rightArrow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863840" y="5715000"/>
            <a:ext cx="2286000" cy="621792"/>
          </a:xfrm>
          <a:prstGeom prst="roundRect">
            <a:avLst>
              <a:gd name="adj" fmla="val 6000"/>
            </a:avLst>
          </a:prstGeom>
          <a:solidFill>
            <a:srgbClr val="101018"/>
          </a:solidFill>
          <a:ln w="12700">
            <a:solidFill>
              <a:srgbClr val="7C4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5833872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7C4DFF"/>
                </a:solidFill>
                <a:latin typeface="Segoe UI"/>
              </a:rPr>
              <a:t>DEVICE GATE</a:t>
            </a:r>
          </a:p>
          <a:p>
            <a:pPr algn="ctr">
              <a:lnSpc>
                <a:spcPct val="115000"/>
              </a:lnSpc>
            </a:pPr>
            <a:r>
              <a:rPr sz="900" b="0">
                <a:solidFill>
                  <a:srgbClr val="9A9A9A"/>
                </a:solidFill>
                <a:latin typeface="Segoe UI"/>
              </a:rPr>
              <a:t>battery ≥ 20%  ·  thermal &lt; MODERATE</a:t>
            </a:r>
          </a:p>
        </p:txBody>
      </p:sp>
      <p:sp>
        <p:nvSpPr>
          <p:cNvPr id="41" name="Up Arrow 40"/>
          <p:cNvSpPr/>
          <p:nvPr/>
        </p:nvSpPr>
        <p:spPr>
          <a:xfrm>
            <a:off x="8887968" y="5394960"/>
            <a:ext cx="237744" cy="274320"/>
          </a:xfrm>
          <a:prstGeom prst="upArrow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22960" y="4983480"/>
            <a:ext cx="4023360" cy="1353312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7280" y="5175504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E5A0"/>
                </a:solidFill>
                <a:latin typeface="Segoe UI"/>
              </a:rPr>
              <a:t>THE OUTPUT CONTRACT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" y="553212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● Tier-1 · 12.4s · conf 0.95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589788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A9A9A"/>
                </a:solidFill>
                <a:latin typeface="Segoe UI"/>
              </a:rPr>
              <a:t>Every answer names its tier, latency and confidence. Escalations append to a JSONL log.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4 / 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Proven, not promised.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Everything below is measurable on a mid-range handset in airplane mode, today.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48840"/>
            <a:ext cx="2468880" cy="16002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3317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00E5A0"/>
                </a:solidFill>
                <a:latin typeface="Segoe UI"/>
              </a:rPr>
              <a:t>109/109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06324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automated tests pass
router · skills · stores · settings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148840"/>
            <a:ext cx="2468880" cy="16002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23317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00E5A0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306324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INTERNET permissions
in the release manifest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148840"/>
            <a:ext cx="2468880" cy="16002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3317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7C4D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06324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quantized models shipped
0.5B + 1.5B, Q4_K_M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2148840"/>
            <a:ext cx="2468880" cy="160020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16568" y="233172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D93D"/>
                </a:solidFill>
                <a:latin typeface="Segoe UI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3063240"/>
            <a:ext cx="2103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offline capability
no feature needs a network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1148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IN THE 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26280"/>
            <a:ext cx="5120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CCCCCC"/>
                </a:solidFill>
                <a:latin typeface="Segoe UI"/>
              </a:rPr>
              <a:t>Models &amp; Benchmarks — live load time, tokens/sec and size per bundled model, measured on this phone.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50" b="0">
                <a:solidFill>
                  <a:srgbClr val="CCCCCC"/>
                </a:solidFill>
                <a:latin typeface="Segoe UI"/>
              </a:rPr>
              <a:t>Prompt Lab — per-tier temperature, top-k/top-p and penalty sliders with a live sandbox.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50" b="0">
                <a:solidFill>
                  <a:srgbClr val="CCCCCC"/>
                </a:solidFill>
                <a:latin typeface="Segoe UI"/>
              </a:rPr>
              <a:t>Skills hub — every deterministic capability, plus a debug panel that simulates a constrained device.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50" b="0">
                <a:solidFill>
                  <a:srgbClr val="CCCCCC"/>
                </a:solidFill>
                <a:latin typeface="Segoe UI"/>
              </a:rPr>
              <a:t>Chat history, per-tier model pickers, Vulkan GPU toggle, OLED-black glass UI.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114800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THE STACK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52628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Flutter / Dart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52628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single codebase, custom glass widget 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92861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llama.cpp via FFI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928616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llama_flutter_android, no ML framework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33095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Qwen2.5 Q4_K_M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330952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0.5B Tier-1 + 1.5B Tier-2, in the APK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73328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MethodChannel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733288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battery, thermal, model-file prep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613562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Vulkan offload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135624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optional GPU acceleration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E5A0"/>
                </a:solidFill>
                <a:latin typeface="Segoe UI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0" y="566928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Segoe UI"/>
              </a:rPr>
              <a:t>5 / 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10561320" cy="127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Same privacy guarantee, more capability.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A9A9A"/>
                </a:solidFill>
                <a:latin typeface="Segoe UI"/>
              </a:rPr>
              <a:t>The hard part — offline inference behind an honest router — already ships.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94560"/>
            <a:ext cx="3291840" cy="12344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3957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E5A0"/>
                </a:solidFill>
                <a:latin typeface="Segoe UI"/>
              </a:rPr>
              <a:t>On-device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761488"/>
            <a:ext cx="28346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Index notes and documents locally. Grounded answers, zero uploads.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2194560"/>
            <a:ext cx="3291840" cy="12344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23957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7C4DFF"/>
                </a:solidFill>
                <a:latin typeface="Segoe UI"/>
              </a:rPr>
              <a:t>Bigger tiers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2761488"/>
            <a:ext cx="28346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3B and 7B quantized models as phones catch up. Same cascade, smarter answers.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2194560"/>
            <a:ext cx="3291840" cy="12344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239572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D93D"/>
                </a:solidFill>
                <a:latin typeface="Segoe UI"/>
              </a:rPr>
              <a:t>More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761488"/>
            <a:ext cx="28346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Calendar, files and smart-home intents. Deterministic, offline, unhallucinatable.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611880"/>
            <a:ext cx="3291840" cy="12344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81304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E5A0"/>
                </a:solidFill>
                <a:latin typeface="Segoe UI"/>
              </a:rPr>
              <a:t>Voice-first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178808"/>
            <a:ext cx="28346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Faster captioning, wake word and a richer speech UI for hands-free use.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3611880"/>
            <a:ext cx="3291840" cy="1234440"/>
          </a:xfrm>
          <a:prstGeom prst="roundRect">
            <a:avLst>
              <a:gd name="adj" fmla="val 6000"/>
            </a:avLst>
          </a:prstGeom>
          <a:solidFill>
            <a:srgbClr val="121212"/>
          </a:solidFill>
          <a:ln w="1270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72584" y="381304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7C4DFF"/>
                </a:solidFill>
                <a:latin typeface="Segoe UI"/>
              </a:rPr>
              <a:t>Play 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2584" y="4178808"/>
            <a:ext cx="28346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9A9A9A"/>
                </a:solidFill>
                <a:latin typeface="Segoe UI"/>
              </a:rPr>
              <a:t>Ship the release pipeline that already builds the APK today.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166360"/>
            <a:ext cx="10561320" cy="1188720"/>
          </a:xfrm>
          <a:prstGeom prst="roundRect">
            <a:avLst>
              <a:gd name="adj" fmla="val 6000"/>
            </a:avLst>
          </a:prstGeom>
          <a:solidFill>
            <a:srgbClr val="041611"/>
          </a:solidFill>
          <a:ln w="12700">
            <a:solidFill>
              <a:srgbClr val="0E4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544068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Segoe UI"/>
              </a:rPr>
              <a:t>“An assistant that knows when to hold back — and tells you.”</a:t>
            </a:r>
          </a:p>
          <a:p>
            <a:pPr algn="ctr">
              <a:lnSpc>
                <a:spcPct val="115000"/>
              </a:lnSpc>
              <a:spcBef>
                <a:spcPts val="900"/>
              </a:spcBef>
            </a:pPr>
            <a:r>
              <a:rPr sz="1200" b="0">
                <a:solidFill>
                  <a:srgbClr val="00E5A0"/>
                </a:solidFill>
                <a:latin typeface="Consolas"/>
              </a:rPr>
              <a:t>Install the release APK  ·  switch on airplane mode  ·  open a chat  ·  github.com/charansaiponnada/candor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